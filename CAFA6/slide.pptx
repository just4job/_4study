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29"/>
  </p:notesMasterIdLst>
  <p:handoutMasterIdLst>
    <p:handoutMasterId r:id="rId30"/>
  </p:handoutMasterIdLst>
  <p:sldIdLst>
    <p:sldId id="257" r:id="rId2"/>
    <p:sldId id="265" r:id="rId3"/>
    <p:sldId id="287" r:id="rId4"/>
    <p:sldId id="288" r:id="rId5"/>
    <p:sldId id="289" r:id="rId6"/>
    <p:sldId id="266" r:id="rId7"/>
    <p:sldId id="291" r:id="rId8"/>
    <p:sldId id="275" r:id="rId9"/>
    <p:sldId id="292" r:id="rId10"/>
    <p:sldId id="296" r:id="rId11"/>
    <p:sldId id="306" r:id="rId12"/>
    <p:sldId id="297" r:id="rId13"/>
    <p:sldId id="290" r:id="rId14"/>
    <p:sldId id="307" r:id="rId15"/>
    <p:sldId id="301" r:id="rId16"/>
    <p:sldId id="304" r:id="rId17"/>
    <p:sldId id="305" r:id="rId18"/>
    <p:sldId id="299" r:id="rId19"/>
    <p:sldId id="303" r:id="rId20"/>
    <p:sldId id="310" r:id="rId21"/>
    <p:sldId id="300" r:id="rId22"/>
    <p:sldId id="269" r:id="rId23"/>
    <p:sldId id="302" r:id="rId24"/>
    <p:sldId id="308" r:id="rId25"/>
    <p:sldId id="313" r:id="rId26"/>
    <p:sldId id="312" r:id="rId27"/>
    <p:sldId id="311"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673" autoAdjust="0"/>
    <p:restoredTop sz="94660"/>
  </p:normalViewPr>
  <p:slideViewPr>
    <p:cSldViewPr snapToGrid="0">
      <p:cViewPr varScale="1">
        <p:scale>
          <a:sx n="79" d="100"/>
          <a:sy n="79" d="100"/>
        </p:scale>
        <p:origin x="181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7/15/2026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7/15/2026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7/15/2026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7/15/2026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7985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7/15/2026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7/15/2026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7/15/2026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7/15/2026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7/15/2026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7/15/2026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5" r:id="rId3"/>
    <p:sldLayoutId id="2147483683" r:id="rId4"/>
    <p:sldLayoutId id="2147483679" r:id="rId5"/>
    <p:sldLayoutId id="2147483680" r:id="rId6"/>
    <p:sldLayoutId id="2147483681" r:id="rId7"/>
    <p:sldLayoutId id="2147483682" r:id="rId8"/>
    <p:sldLayoutId id="2147483678"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png"/><Relationship Id="rId1" Type="http://schemas.openxmlformats.org/officeDocument/2006/relationships/slideLayout" Target="../slideLayouts/slideLayout3.xml"/><Relationship Id="rId4" Type="http://schemas.openxmlformats.org/officeDocument/2006/relationships/image" Target="../media/image20.jpg"/></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150364" y="2022802"/>
            <a:ext cx="8351609"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vi-VN" sz="4800">
                <a:latin typeface="Arial" panose="020B0604020202020204" pitchFamily="34" charset="0"/>
                <a:cs typeface="Arial" panose="020B0604020202020204" pitchFamily="34" charset="0"/>
              </a:rPr>
              <a:t>Đồ án nghiên cứu cử nhân</a:t>
            </a:r>
            <a:endParaRPr lang="en-US" sz="4800" dirty="0">
              <a:latin typeface="Arial" panose="020B0604020202020204" pitchFamily="34" charset="0"/>
              <a:cs typeface="Arial" panose="020B0604020202020204" pitchFamily="34" charset="0"/>
            </a:endParaRPr>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150364" y="3035590"/>
            <a:ext cx="8414516"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nSpc>
                <a:spcPct val="150000"/>
              </a:lnSpc>
            </a:pPr>
            <a:r>
              <a:rPr lang="vi-VN" sz="2600">
                <a:solidFill>
                  <a:schemeClr val="tx1"/>
                </a:solidFill>
                <a:latin typeface="Arial" panose="020B0604020202020204" pitchFamily="34" charset="0"/>
                <a:cs typeface="Arial" panose="020B0604020202020204" pitchFamily="34" charset="0"/>
              </a:rPr>
              <a:t>Đề tài: Dự đoán chức năng protein sử dụng học sâu</a:t>
            </a:r>
          </a:p>
          <a:p>
            <a:pPr>
              <a:lnSpc>
                <a:spcPct val="150000"/>
              </a:lnSpc>
            </a:pPr>
            <a:r>
              <a:rPr lang="en-US" sz="2400">
                <a:solidFill>
                  <a:schemeClr val="tx1"/>
                </a:solidFill>
                <a:latin typeface="Arial" panose="020B0604020202020204" pitchFamily="34" charset="0"/>
                <a:cs typeface="Arial" panose="020B0604020202020204" pitchFamily="34" charset="0"/>
              </a:rPr>
              <a:t>GVHD: </a:t>
            </a:r>
            <a:r>
              <a:rPr lang="en-US" sz="2400" b="0">
                <a:solidFill>
                  <a:schemeClr val="tx1"/>
                </a:solidFill>
                <a:latin typeface="Arial" panose="020B0604020202020204" pitchFamily="34" charset="0"/>
                <a:cs typeface="Arial" panose="020B0604020202020204" pitchFamily="34" charset="0"/>
              </a:rPr>
              <a:t>	PGS.TS. Lê Đức Hậu</a:t>
            </a:r>
            <a:endParaRPr lang="en-US" sz="2400" b="0" dirty="0">
              <a:solidFill>
                <a:schemeClr val="tx1"/>
              </a:solidFill>
              <a:latin typeface="Arial" panose="020B0604020202020204" pitchFamily="34" charset="0"/>
              <a:cs typeface="Arial" panose="020B0604020202020204" pitchFamily="34" charset="0"/>
            </a:endParaRPr>
          </a:p>
          <a:p>
            <a:pPr>
              <a:lnSpc>
                <a:spcPct val="150000"/>
              </a:lnSpc>
            </a:pPr>
            <a:r>
              <a:rPr lang="en-US" sz="2400">
                <a:solidFill>
                  <a:schemeClr val="tx1"/>
                </a:solidFill>
                <a:latin typeface="Arial" panose="020B0604020202020204" pitchFamily="34" charset="0"/>
                <a:cs typeface="Arial" panose="020B0604020202020204" pitchFamily="34" charset="0"/>
              </a:rPr>
              <a:t>Sinh viên: </a:t>
            </a:r>
            <a:r>
              <a:rPr lang="en-US" sz="2400" b="0">
                <a:solidFill>
                  <a:schemeClr val="tx1"/>
                </a:solidFill>
                <a:latin typeface="Arial" panose="020B0604020202020204" pitchFamily="34" charset="0"/>
                <a:cs typeface="Arial" panose="020B0604020202020204" pitchFamily="34" charset="0"/>
              </a:rPr>
              <a:t>	Nguyễn Thùy Linh</a:t>
            </a:r>
            <a:endParaRPr lang="vi-VN" sz="2400" b="0">
              <a:solidFill>
                <a:schemeClr val="tx1"/>
              </a:solidFill>
              <a:latin typeface="Arial" panose="020B0604020202020204" pitchFamily="34" charset="0"/>
              <a:cs typeface="Arial" panose="020B0604020202020204" pitchFamily="34" charset="0"/>
            </a:endParaRPr>
          </a:p>
          <a:p>
            <a:pPr>
              <a:lnSpc>
                <a:spcPct val="150000"/>
              </a:lnSpc>
            </a:pPr>
            <a:r>
              <a:rPr lang="vi-VN" sz="2400">
                <a:solidFill>
                  <a:schemeClr val="tx1"/>
                </a:solidFill>
                <a:latin typeface="Arial" panose="020B0604020202020204" pitchFamily="34" charset="0"/>
                <a:cs typeface="Arial" panose="020B0604020202020204" pitchFamily="34" charset="0"/>
              </a:rPr>
              <a:t>MSSV: </a:t>
            </a:r>
            <a:r>
              <a:rPr lang="vi-VN" sz="2400" b="0">
                <a:solidFill>
                  <a:schemeClr val="tx1"/>
                </a:solidFill>
                <a:latin typeface="Arial" panose="020B0604020202020204" pitchFamily="34" charset="0"/>
                <a:cs typeface="Arial" panose="020B0604020202020204" pitchFamily="34" charset="0"/>
              </a:rPr>
              <a:t>	20225031</a:t>
            </a:r>
            <a:endParaRPr lang="en-US" sz="2400" b="0" dirty="0">
              <a:solidFill>
                <a:schemeClr val="tx1"/>
              </a:solidFill>
              <a:latin typeface="Arial" panose="020B0604020202020204" pitchFamily="34" charset="0"/>
              <a:cs typeface="Arial" panose="020B0604020202020204" pitchFamily="34" charset="0"/>
            </a:endParaRPr>
          </a:p>
          <a:p>
            <a:endParaRPr lang="en-US" sz="2400" b="0" dirty="0">
              <a:solidFill>
                <a:schemeClr val="tx1"/>
              </a:solidFill>
              <a:latin typeface="Arial" panose="020B0604020202020204" pitchFamily="34" charset="0"/>
              <a:cs typeface="Arial" panose="020B0604020202020204" pitchFamily="34" charset="0"/>
            </a:endParaRPr>
          </a:p>
          <a:p>
            <a:endParaRPr lang="en-US" sz="2400" b="0" dirty="0">
              <a:solidFill>
                <a:schemeClr val="tx1"/>
              </a:solidFill>
              <a:latin typeface="Arial" panose="020B0604020202020204" pitchFamily="34" charset="0"/>
              <a:cs typeface="Arial" panose="020B0604020202020204" pitchFamily="34" charset="0"/>
            </a:endParaRPr>
          </a:p>
          <a:p>
            <a:endParaRPr lang="en-US" sz="2400" b="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43172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2</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Nội dung trình bày</a:t>
            </a:r>
          </a:p>
        </p:txBody>
      </p:sp>
      <p:sp>
        <p:nvSpPr>
          <p:cNvPr id="4" name="Content Placeholder 3">
            <a:extLst>
              <a:ext uri="{FF2B5EF4-FFF2-40B4-BE49-F238E27FC236}">
                <a16:creationId xmlns:a16="http://schemas.microsoft.com/office/drawing/2014/main" id="{59563378-38F8-4CB3-AF99-2C56FCF55404}"/>
              </a:ext>
            </a:extLst>
          </p:cNvPr>
          <p:cNvSpPr>
            <a:spLocks noGrp="1"/>
          </p:cNvSpPr>
          <p:nvPr>
            <p:ph sz="quarter" idx="13"/>
          </p:nvPr>
        </p:nvSpPr>
        <p:spPr>
          <a:xfrm>
            <a:off x="234823" y="1152534"/>
            <a:ext cx="8674100" cy="4363050"/>
          </a:xfrm>
        </p:spPr>
        <p:txBody>
          <a:bodyPr/>
          <a:lstStyle/>
          <a:p>
            <a:pPr marL="0" indent="0">
              <a:buNone/>
            </a:pPr>
            <a:r>
              <a:rPr lang="en-US" sz="3200">
                <a:latin typeface="Arial" panose="020B0604020202020204" pitchFamily="34" charset="0"/>
                <a:cs typeface="Arial" panose="020B0604020202020204" pitchFamily="34" charset="0"/>
              </a:rPr>
              <a:t>1. Giới thiệu và Đặt vấn đề</a:t>
            </a:r>
          </a:p>
          <a:p>
            <a:pPr marL="0" indent="0">
              <a:buNone/>
            </a:pPr>
            <a:r>
              <a:rPr lang="en-US" sz="3200">
                <a:latin typeface="Arial" panose="020B0604020202020204" pitchFamily="34" charset="0"/>
                <a:cs typeface="Arial" panose="020B0604020202020204" pitchFamily="34" charset="0"/>
              </a:rPr>
              <a:t>2. Phương pháp đề xuất (Kiến trúc mô hình)</a:t>
            </a:r>
          </a:p>
          <a:p>
            <a:pPr marL="0" indent="0">
              <a:buNone/>
            </a:pPr>
            <a:r>
              <a:rPr lang="en-US" sz="3200">
                <a:latin typeface="Arial" panose="020B0604020202020204" pitchFamily="34" charset="0"/>
                <a:cs typeface="Arial" panose="020B0604020202020204" pitchFamily="34" charset="0"/>
              </a:rPr>
              <a:t>3. Đánh giá thực nghiệm</a:t>
            </a:r>
          </a:p>
          <a:p>
            <a:pPr marL="0" indent="0">
              <a:buNone/>
            </a:pPr>
            <a:r>
              <a:rPr lang="en-US" sz="3200">
                <a:latin typeface="Arial" panose="020B0604020202020204" pitchFamily="34" charset="0"/>
                <a:cs typeface="Arial" panose="020B0604020202020204" pitchFamily="34" charset="0"/>
              </a:rPr>
              <a:t>4. Kết luận và Hướng phát triển</a:t>
            </a:r>
          </a:p>
        </p:txBody>
      </p:sp>
    </p:spTree>
    <p:extLst>
      <p:ext uri="{BB962C8B-B14F-4D97-AF65-F5344CB8AC3E}">
        <p14:creationId xmlns:p14="http://schemas.microsoft.com/office/powerpoint/2010/main" val="292364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B43E0-9CF2-9D2C-805E-211689BA45C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6F28D5-02A6-209F-A055-69CDC0E511CB}"/>
              </a:ext>
            </a:extLst>
          </p:cNvPr>
          <p:cNvSpPr>
            <a:spLocks noGrp="1"/>
          </p:cNvSpPr>
          <p:nvPr>
            <p:ph type="sldNum" sz="quarter" idx="12"/>
          </p:nvPr>
        </p:nvSpPr>
        <p:spPr/>
        <p:txBody>
          <a:bodyPr/>
          <a:lstStyle/>
          <a:p>
            <a:fld id="{9EA0BE3B-158A-4EDF-80DC-E394A0D1600F}" type="slidenum">
              <a:rPr lang="en-US" smtClean="0"/>
              <a:pPr/>
              <a:t>3</a:t>
            </a:fld>
            <a:endParaRPr lang="en-US" dirty="0"/>
          </a:p>
        </p:txBody>
      </p:sp>
      <p:sp>
        <p:nvSpPr>
          <p:cNvPr id="3" name="Title 2">
            <a:extLst>
              <a:ext uri="{FF2B5EF4-FFF2-40B4-BE49-F238E27FC236}">
                <a16:creationId xmlns:a16="http://schemas.microsoft.com/office/drawing/2014/main" id="{A4383E44-2612-9858-5C0E-9EB9AE4A0638}"/>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1. Giới thiệu và Đặt vấn đề</a:t>
            </a:r>
          </a:p>
        </p:txBody>
      </p:sp>
      <p:sp>
        <p:nvSpPr>
          <p:cNvPr id="4" name="Content Placeholder 3">
            <a:extLst>
              <a:ext uri="{FF2B5EF4-FFF2-40B4-BE49-F238E27FC236}">
                <a16:creationId xmlns:a16="http://schemas.microsoft.com/office/drawing/2014/main" id="{7987A2A4-F983-9535-C537-FD71E809ED96}"/>
              </a:ext>
            </a:extLst>
          </p:cNvPr>
          <p:cNvSpPr>
            <a:spLocks noGrp="1"/>
          </p:cNvSpPr>
          <p:nvPr>
            <p:ph sz="quarter" idx="13"/>
          </p:nvPr>
        </p:nvSpPr>
        <p:spPr>
          <a:xfrm>
            <a:off x="234823" y="1152534"/>
            <a:ext cx="8674100" cy="4363050"/>
          </a:xfrm>
        </p:spPr>
        <p:txBody>
          <a:bodyPr/>
          <a:lstStyle/>
          <a:p>
            <a:pPr marL="0" indent="0" algn="just">
              <a:buNone/>
            </a:pPr>
            <a:r>
              <a:rPr lang="en-US" b="1">
                <a:latin typeface="Arial" panose="020B0604020202020204" pitchFamily="34" charset="0"/>
                <a:cs typeface="Arial" panose="020B0604020202020204" pitchFamily="34" charset="0"/>
              </a:rPr>
              <a:t>1.1. Đặt vấn đề:</a:t>
            </a:r>
            <a:endParaRPr lang="vi-VN" b="1">
              <a:latin typeface="Arial" panose="020B0604020202020204" pitchFamily="34" charset="0"/>
              <a:cs typeface="Arial" panose="020B0604020202020204" pitchFamily="34" charset="0"/>
            </a:endParaRPr>
          </a:p>
          <a:p>
            <a:pPr marL="0" indent="0" algn="just">
              <a:buNone/>
            </a:pPr>
            <a:endParaRPr lang="en-US" sz="2000" b="1">
              <a:latin typeface="Arial" panose="020B0604020202020204" pitchFamily="34" charset="0"/>
              <a:cs typeface="Arial" panose="020B0604020202020204" pitchFamily="34" charset="0"/>
            </a:endParaRPr>
          </a:p>
          <a:p>
            <a:pPr algn="just"/>
            <a:r>
              <a:rPr lang="en-US" sz="2000" b="1">
                <a:latin typeface="Arial" panose="020B0604020202020204" pitchFamily="34" charset="0"/>
                <a:cs typeface="Arial" panose="020B0604020202020204" pitchFamily="34" charset="0"/>
              </a:rPr>
              <a:t>Sự bùng nổ dữ liệu sinh học:</a:t>
            </a:r>
            <a:r>
              <a:rPr lang="en-US" sz="2000">
                <a:latin typeface="Arial" panose="020B0604020202020204" pitchFamily="34" charset="0"/>
                <a:cs typeface="Arial" panose="020B0604020202020204" pitchFamily="34" charset="0"/>
              </a:rPr>
              <a:t> Công nghệ giải trình tự thế hệ mới (NGS) tạo ra lượng dữ liệu protein khổng lồ</a:t>
            </a:r>
          </a:p>
          <a:p>
            <a:pPr algn="just"/>
            <a:r>
              <a:rPr lang="en-US" sz="2000" b="1">
                <a:latin typeface="Arial" panose="020B0604020202020204" pitchFamily="34" charset="0"/>
                <a:cs typeface="Arial" panose="020B0604020202020204" pitchFamily="34" charset="0"/>
              </a:rPr>
              <a:t>Hạn chế của thực nghiệm truyền thống: </a:t>
            </a:r>
            <a:r>
              <a:rPr lang="en-US" sz="2000">
                <a:latin typeface="Arial" panose="020B0604020202020204" pitchFamily="34" charset="0"/>
                <a:cs typeface="Arial" panose="020B0604020202020204" pitchFamily="34" charset="0"/>
              </a:rPr>
              <a:t>Các phương pháp xác định chức năng sinh học thủ công tốn kém và mất nhiều thời gian</a:t>
            </a:r>
          </a:p>
          <a:p>
            <a:pPr marL="0" indent="0" algn="just">
              <a:buNone/>
            </a:pPr>
            <a:r>
              <a:rPr lang="vi-VN" sz="2000">
                <a:latin typeface="Arial" panose="020B0604020202020204" pitchFamily="34" charset="0"/>
                <a:cs typeface="Arial" panose="020B0604020202020204" pitchFamily="34" charset="0"/>
                <a:sym typeface="Wingdings" panose="05000000000000000000" pitchFamily="2" charset="2"/>
              </a:rPr>
              <a:t> </a:t>
            </a:r>
            <a:r>
              <a:rPr lang="en-US" sz="2000">
                <a:latin typeface="Arial" panose="020B0604020202020204" pitchFamily="34" charset="0"/>
                <a:cs typeface="Arial" panose="020B0604020202020204" pitchFamily="34" charset="0"/>
              </a:rPr>
              <a:t>Sự cấp thiết phải phát triển các mô hình tự động dự đoán chức năng protein để giải quyết bài toán bất đối xứng dữ liệu một cách nhanh chóng và chính xác.</a:t>
            </a:r>
          </a:p>
          <a:p>
            <a:pPr marL="0" indent="0" algn="just">
              <a:buNone/>
            </a:pP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31071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6F58F-E013-DA65-E42D-BD8510D8CF1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0B8A66-8622-D24D-C859-914E4EF34F55}"/>
              </a:ext>
            </a:extLst>
          </p:cNvPr>
          <p:cNvSpPr>
            <a:spLocks noGrp="1"/>
          </p:cNvSpPr>
          <p:nvPr>
            <p:ph type="sldNum" sz="quarter" idx="12"/>
          </p:nvPr>
        </p:nvSpPr>
        <p:spPr/>
        <p:txBody>
          <a:bodyPr/>
          <a:lstStyle/>
          <a:p>
            <a:fld id="{9EA0BE3B-158A-4EDF-80DC-E394A0D1600F}" type="slidenum">
              <a:rPr lang="en-US" smtClean="0"/>
              <a:pPr/>
              <a:t>4</a:t>
            </a:fld>
            <a:endParaRPr lang="en-US" dirty="0"/>
          </a:p>
        </p:txBody>
      </p:sp>
      <p:sp>
        <p:nvSpPr>
          <p:cNvPr id="3" name="Title 2">
            <a:extLst>
              <a:ext uri="{FF2B5EF4-FFF2-40B4-BE49-F238E27FC236}">
                <a16:creationId xmlns:a16="http://schemas.microsoft.com/office/drawing/2014/main" id="{E4568679-3E09-A69C-A60D-E3338DD32543}"/>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1. Giới thiệu và Đặt vấn đề</a:t>
            </a:r>
          </a:p>
        </p:txBody>
      </p:sp>
      <p:sp>
        <p:nvSpPr>
          <p:cNvPr id="4" name="Content Placeholder 3">
            <a:extLst>
              <a:ext uri="{FF2B5EF4-FFF2-40B4-BE49-F238E27FC236}">
                <a16:creationId xmlns:a16="http://schemas.microsoft.com/office/drawing/2014/main" id="{51F0444C-F710-B7C9-1992-E92028C7CBBD}"/>
              </a:ext>
            </a:extLst>
          </p:cNvPr>
          <p:cNvSpPr>
            <a:spLocks noGrp="1"/>
          </p:cNvSpPr>
          <p:nvPr>
            <p:ph sz="quarter" idx="13"/>
          </p:nvPr>
        </p:nvSpPr>
        <p:spPr>
          <a:xfrm>
            <a:off x="234823" y="1152534"/>
            <a:ext cx="8674100" cy="4363050"/>
          </a:xfrm>
        </p:spPr>
        <p:txBody>
          <a:bodyPr/>
          <a:lstStyle/>
          <a:p>
            <a:pPr marL="0" indent="0" algn="just">
              <a:buNone/>
            </a:pPr>
            <a:r>
              <a:rPr lang="en-US" b="1">
                <a:latin typeface="Arial" panose="020B0604020202020204" pitchFamily="34" charset="0"/>
                <a:cs typeface="Arial" panose="020B0604020202020204" pitchFamily="34" charset="0"/>
              </a:rPr>
              <a:t>1.2. Hạn chế của các phương pháp hiện tại</a:t>
            </a:r>
            <a:endParaRPr lang="vi-VN" b="1">
              <a:latin typeface="Arial" panose="020B0604020202020204" pitchFamily="34" charset="0"/>
              <a:cs typeface="Arial" panose="020B0604020202020204" pitchFamily="34" charset="0"/>
            </a:endParaRPr>
          </a:p>
          <a:p>
            <a:pPr marL="0" indent="0" algn="just">
              <a:buNone/>
            </a:pPr>
            <a:endParaRPr lang="en-US" sz="2000" b="1">
              <a:latin typeface="Arial" panose="020B0604020202020204" pitchFamily="34" charset="0"/>
              <a:cs typeface="Arial" panose="020B0604020202020204" pitchFamily="34" charset="0"/>
            </a:endParaRPr>
          </a:p>
          <a:p>
            <a:pPr algn="just"/>
            <a:r>
              <a:rPr lang="en-US" sz="2000" b="1">
                <a:latin typeface="Arial" panose="020B0604020202020204" pitchFamily="34" charset="0"/>
                <a:cs typeface="Arial" panose="020B0604020202020204" pitchFamily="34" charset="0"/>
              </a:rPr>
              <a:t>Mô hình đơn phương thức</a:t>
            </a:r>
            <a:r>
              <a:rPr lang="en-US" sz="2000">
                <a:latin typeface="Arial" panose="020B0604020202020204" pitchFamily="34" charset="0"/>
                <a:cs typeface="Arial" panose="020B0604020202020204" pitchFamily="34" charset="0"/>
              </a:rPr>
              <a:t> (</a:t>
            </a:r>
            <a:r>
              <a:rPr lang="vi-VN" sz="2000">
                <a:latin typeface="Arial" panose="020B0604020202020204" pitchFamily="34" charset="0"/>
                <a:cs typeface="Arial" panose="020B0604020202020204" pitchFamily="34" charset="0"/>
              </a:rPr>
              <a:t>sequence-only</a:t>
            </a:r>
            <a:r>
              <a:rPr lang="en-US" sz="2000">
                <a:latin typeface="Arial" panose="020B0604020202020204" pitchFamily="34" charset="0"/>
                <a:cs typeface="Arial" panose="020B0604020202020204" pitchFamily="34" charset="0"/>
              </a:rPr>
              <a:t>): Dễ thất bại khi các protein có trình tự giống nhau nhưng chức năng đã phân kỳ.</a:t>
            </a:r>
            <a:endParaRPr lang="vi-VN" sz="2000">
              <a:latin typeface="Arial" panose="020B0604020202020204" pitchFamily="34" charset="0"/>
              <a:cs typeface="Arial" panose="020B0604020202020204" pitchFamily="34" charset="0"/>
            </a:endParaRPr>
          </a:p>
          <a:p>
            <a:pPr algn="just"/>
            <a:endParaRPr lang="en-US" sz="2000">
              <a:latin typeface="Arial" panose="020B0604020202020204" pitchFamily="34" charset="0"/>
              <a:cs typeface="Arial" panose="020B0604020202020204" pitchFamily="34" charset="0"/>
            </a:endParaRPr>
          </a:p>
          <a:p>
            <a:pPr algn="just"/>
            <a:r>
              <a:rPr lang="en-US" sz="2000" b="1">
                <a:latin typeface="Arial" panose="020B0604020202020204" pitchFamily="34" charset="0"/>
                <a:cs typeface="Arial" panose="020B0604020202020204" pitchFamily="34" charset="0"/>
              </a:rPr>
              <a:t>Hợp nhất "nông" (Shallow Concatenation): </a:t>
            </a:r>
            <a:r>
              <a:rPr lang="en-US" sz="2000">
                <a:latin typeface="Arial" panose="020B0604020202020204" pitchFamily="34" charset="0"/>
                <a:cs typeface="Arial" panose="020B0604020202020204" pitchFamily="34" charset="0"/>
              </a:rPr>
              <a:t>Chỉ ghép nối vector đơn giản, chưa khai thác được tương tác sâu sắc giữa 1D (trình tự) và 3D (cấu trúc).</a:t>
            </a:r>
            <a:endParaRPr lang="vi-VN" sz="2000">
              <a:latin typeface="Arial" panose="020B0604020202020204" pitchFamily="34" charset="0"/>
              <a:cs typeface="Arial" panose="020B0604020202020204" pitchFamily="34" charset="0"/>
            </a:endParaRPr>
          </a:p>
          <a:p>
            <a:pPr algn="just"/>
            <a:endParaRPr lang="en-US" sz="2000">
              <a:latin typeface="Arial" panose="020B0604020202020204" pitchFamily="34" charset="0"/>
              <a:cs typeface="Arial" panose="020B0604020202020204" pitchFamily="34" charset="0"/>
            </a:endParaRPr>
          </a:p>
          <a:p>
            <a:pPr algn="just"/>
            <a:r>
              <a:rPr lang="en-US" sz="2000" b="1">
                <a:latin typeface="Arial" panose="020B0604020202020204" pitchFamily="34" charset="0"/>
                <a:cs typeface="Arial" panose="020B0604020202020204" pitchFamily="34" charset="0"/>
              </a:rPr>
              <a:t>Bỏ qua mạng tương tác (PPI): </a:t>
            </a:r>
            <a:r>
              <a:rPr lang="en-US" sz="2000">
                <a:latin typeface="Arial" panose="020B0604020202020204" pitchFamily="34" charset="0"/>
                <a:cs typeface="Arial" panose="020B0604020202020204" pitchFamily="34" charset="0"/>
              </a:rPr>
              <a:t>Thiếu đi ngữ cảnh sinh học và môi trường hoạt động chung của hệ protein.</a:t>
            </a:r>
          </a:p>
          <a:p>
            <a:pPr marL="0" indent="0" algn="just">
              <a:buNone/>
            </a:pP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02329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C954B-4BDD-2129-FB58-C163357891B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9F458A5-1106-AB50-92CE-66DCF0505FBF}"/>
              </a:ext>
            </a:extLst>
          </p:cNvPr>
          <p:cNvSpPr>
            <a:spLocks noGrp="1"/>
          </p:cNvSpPr>
          <p:nvPr>
            <p:ph type="sldNum" sz="quarter" idx="12"/>
          </p:nvPr>
        </p:nvSpPr>
        <p:spPr/>
        <p:txBody>
          <a:bodyPr/>
          <a:lstStyle/>
          <a:p>
            <a:fld id="{9EA0BE3B-158A-4EDF-80DC-E394A0D1600F}" type="slidenum">
              <a:rPr lang="en-US" smtClean="0"/>
              <a:pPr/>
              <a:t>5</a:t>
            </a:fld>
            <a:endParaRPr lang="en-US" dirty="0"/>
          </a:p>
        </p:txBody>
      </p:sp>
      <p:sp>
        <p:nvSpPr>
          <p:cNvPr id="3" name="Title 2">
            <a:extLst>
              <a:ext uri="{FF2B5EF4-FFF2-40B4-BE49-F238E27FC236}">
                <a16:creationId xmlns:a16="http://schemas.microsoft.com/office/drawing/2014/main" id="{E023A89C-66F2-A6A9-03E2-2DA0583D7D0E}"/>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1. Giới thiệu và Đặt vấn đề</a:t>
            </a:r>
          </a:p>
        </p:txBody>
      </p:sp>
      <p:sp>
        <p:nvSpPr>
          <p:cNvPr id="4" name="Content Placeholder 3">
            <a:extLst>
              <a:ext uri="{FF2B5EF4-FFF2-40B4-BE49-F238E27FC236}">
                <a16:creationId xmlns:a16="http://schemas.microsoft.com/office/drawing/2014/main" id="{7654C2B4-F48B-B227-0EA8-A2D054C179F2}"/>
              </a:ext>
            </a:extLst>
          </p:cNvPr>
          <p:cNvSpPr>
            <a:spLocks noGrp="1"/>
          </p:cNvSpPr>
          <p:nvPr>
            <p:ph sz="quarter" idx="13"/>
          </p:nvPr>
        </p:nvSpPr>
        <p:spPr>
          <a:xfrm>
            <a:off x="235078" y="1013638"/>
            <a:ext cx="8584832" cy="4363050"/>
          </a:xfrm>
        </p:spPr>
        <p:txBody>
          <a:bodyPr/>
          <a:lstStyle/>
          <a:p>
            <a:pPr marL="0" indent="0" algn="just">
              <a:buNone/>
            </a:pPr>
            <a:r>
              <a:rPr lang="en-US" b="1">
                <a:latin typeface="Arial" panose="020B0604020202020204" pitchFamily="34" charset="0"/>
                <a:cs typeface="Arial" panose="020B0604020202020204" pitchFamily="34" charset="0"/>
              </a:rPr>
              <a:t>1.3. Đóng góp của đề tài </a:t>
            </a:r>
            <a:endParaRPr lang="vi-VN" b="1">
              <a:latin typeface="Arial" panose="020B0604020202020204" pitchFamily="34" charset="0"/>
              <a:cs typeface="Arial" panose="020B0604020202020204" pitchFamily="34" charset="0"/>
            </a:endParaRPr>
          </a:p>
          <a:p>
            <a:pPr marL="0" indent="0" algn="just">
              <a:buNone/>
            </a:pPr>
            <a:endParaRPr lang="en-US" sz="2000" b="1">
              <a:latin typeface="Arial" panose="020B0604020202020204" pitchFamily="34" charset="0"/>
              <a:cs typeface="Arial" panose="020B0604020202020204" pitchFamily="34" charset="0"/>
            </a:endParaRPr>
          </a:p>
          <a:p>
            <a:pPr algn="just"/>
            <a:r>
              <a:rPr lang="en-US" sz="2000" b="1">
                <a:latin typeface="Arial" panose="020B0604020202020204" pitchFamily="34" charset="0"/>
                <a:cs typeface="Arial" panose="020B0604020202020204" pitchFamily="34" charset="0"/>
              </a:rPr>
              <a:t>Kiến trúc Đa phương thức:</a:t>
            </a:r>
            <a:r>
              <a:rPr lang="en-US" sz="2000">
                <a:latin typeface="Arial" panose="020B0604020202020204" pitchFamily="34" charset="0"/>
                <a:cs typeface="Arial" panose="020B0604020202020204" pitchFamily="34" charset="0"/>
              </a:rPr>
              <a:t> Hợp nhất đồng thời 3 luồng thông tin: Cấu trúc (3D), Trình tự (1D) và Mạng tương tác PPI (Đồ thị).</a:t>
            </a:r>
            <a:endParaRPr lang="vi-VN" sz="2000">
              <a:latin typeface="Arial" panose="020B0604020202020204" pitchFamily="34" charset="0"/>
              <a:cs typeface="Arial" panose="020B0604020202020204" pitchFamily="34" charset="0"/>
            </a:endParaRPr>
          </a:p>
          <a:p>
            <a:pPr algn="just"/>
            <a:endParaRPr lang="en-US" sz="2000">
              <a:latin typeface="Arial" panose="020B0604020202020204" pitchFamily="34" charset="0"/>
              <a:cs typeface="Arial" panose="020B0604020202020204" pitchFamily="34" charset="0"/>
            </a:endParaRPr>
          </a:p>
          <a:p>
            <a:pPr algn="just"/>
            <a:r>
              <a:rPr lang="en-US" sz="2000" b="1">
                <a:latin typeface="Arial" panose="020B0604020202020204" pitchFamily="34" charset="0"/>
                <a:cs typeface="Arial" panose="020B0604020202020204" pitchFamily="34" charset="0"/>
              </a:rPr>
              <a:t>Nâng cấp Biểu diễn:</a:t>
            </a:r>
            <a:r>
              <a:rPr lang="en-US" sz="2000">
                <a:latin typeface="Arial" panose="020B0604020202020204" pitchFamily="34" charset="0"/>
                <a:cs typeface="Arial" panose="020B0604020202020204" pitchFamily="34" charset="0"/>
              </a:rPr>
              <a:t> Triển khai mô hình ngôn ngữ ESM-2 (cho trình tự) và thuật toán GraphSAGE </a:t>
            </a:r>
            <a:r>
              <a:rPr lang="vi-VN" sz="2000">
                <a:latin typeface="Arial" panose="020B0604020202020204" pitchFamily="34" charset="0"/>
                <a:cs typeface="Arial" panose="020B0604020202020204" pitchFamily="34" charset="0"/>
              </a:rPr>
              <a:t>(</a:t>
            </a:r>
            <a:r>
              <a:rPr lang="en-US" sz="2000">
                <a:latin typeface="Arial" panose="020B0604020202020204" pitchFamily="34" charset="0"/>
                <a:cs typeface="Arial" panose="020B0604020202020204" pitchFamily="34" charset="0"/>
              </a:rPr>
              <a:t>cho mạng PPI).</a:t>
            </a:r>
            <a:endParaRPr lang="vi-VN" sz="2000">
              <a:latin typeface="Arial" panose="020B0604020202020204" pitchFamily="34" charset="0"/>
              <a:cs typeface="Arial" panose="020B0604020202020204" pitchFamily="34" charset="0"/>
            </a:endParaRPr>
          </a:p>
          <a:p>
            <a:pPr algn="just"/>
            <a:endParaRPr lang="en-US" sz="2000">
              <a:latin typeface="Arial" panose="020B0604020202020204" pitchFamily="34" charset="0"/>
              <a:cs typeface="Arial" panose="020B0604020202020204" pitchFamily="34" charset="0"/>
            </a:endParaRPr>
          </a:p>
          <a:p>
            <a:pPr algn="just"/>
            <a:r>
              <a:rPr lang="en-US" sz="2000" b="1">
                <a:latin typeface="Arial" panose="020B0604020202020204" pitchFamily="34" charset="0"/>
                <a:cs typeface="Arial" panose="020B0604020202020204" pitchFamily="34" charset="0"/>
              </a:rPr>
              <a:t>Cơ chế "Cross-Attention có hướng":</a:t>
            </a:r>
            <a:r>
              <a:rPr lang="en-US" sz="2000">
                <a:latin typeface="Arial" panose="020B0604020202020204" pitchFamily="34" charset="0"/>
                <a:cs typeface="Arial" panose="020B0604020202020204" pitchFamily="34" charset="0"/>
              </a:rPr>
              <a:t> Dùng đặc trưng cấu trúc &amp; trình tự làm </a:t>
            </a:r>
            <a:r>
              <a:rPr lang="en-US" sz="2000" i="1">
                <a:latin typeface="Arial" panose="020B0604020202020204" pitchFamily="34" charset="0"/>
                <a:cs typeface="Arial" panose="020B0604020202020204" pitchFamily="34" charset="0"/>
              </a:rPr>
              <a:t>Query</a:t>
            </a:r>
            <a:r>
              <a:rPr lang="en-US" sz="2000">
                <a:latin typeface="Arial" panose="020B0604020202020204" pitchFamily="34" charset="0"/>
                <a:cs typeface="Arial" panose="020B0604020202020204" pitchFamily="34" charset="0"/>
              </a:rPr>
              <a:t> để chắt lọc chính xác ngữ cảnh từ mạng PPI.</a:t>
            </a:r>
          </a:p>
          <a:p>
            <a:pPr marL="0" indent="0" algn="just">
              <a:buNone/>
            </a:pPr>
            <a:br>
              <a:rPr lang="en-US" sz="2000">
                <a:latin typeface="Arial" panose="020B0604020202020204" pitchFamily="34" charset="0"/>
                <a:cs typeface="Arial" panose="020B0604020202020204" pitchFamily="34" charset="0"/>
              </a:rPr>
            </a:b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65818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6</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2. </a:t>
            </a:r>
            <a:r>
              <a:rPr lang="en-US"/>
              <a:t>PHƯƠNG PHÁP ĐỀ XUẤT</a:t>
            </a:r>
            <a:endParaRPr lang="en-US">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BC311219-8684-45FC-A126-E067924AC7F7}"/>
              </a:ext>
            </a:extLst>
          </p:cNvPr>
          <p:cNvSpPr>
            <a:spLocks noGrp="1"/>
          </p:cNvSpPr>
          <p:nvPr>
            <p:ph type="body" sz="quarter" idx="13"/>
          </p:nvPr>
        </p:nvSpPr>
        <p:spPr/>
        <p:txBody>
          <a:bodyPr/>
          <a:lstStyle/>
          <a:p>
            <a:endParaRPr lang="en-US"/>
          </a:p>
        </p:txBody>
      </p:sp>
      <p:pic>
        <p:nvPicPr>
          <p:cNvPr id="6" name="Picture 5">
            <a:extLst>
              <a:ext uri="{FF2B5EF4-FFF2-40B4-BE49-F238E27FC236}">
                <a16:creationId xmlns:a16="http://schemas.microsoft.com/office/drawing/2014/main" id="{08551B3F-D7BA-B372-854A-B92B5FCCAF2D}"/>
              </a:ext>
            </a:extLst>
          </p:cNvPr>
          <p:cNvPicPr>
            <a:picLocks noChangeAspect="1"/>
          </p:cNvPicPr>
          <p:nvPr/>
        </p:nvPicPr>
        <p:blipFill>
          <a:blip r:embed="rId2">
            <a:extLst>
              <a:ext uri="{28A0092B-C50C-407E-A947-70E740481C1C}">
                <a14:useLocalDpi xmlns:a14="http://schemas.microsoft.com/office/drawing/2010/main" val="0"/>
              </a:ext>
            </a:extLst>
          </a:blip>
          <a:srcRect l="2763" t="6272" r="2105"/>
          <a:stretch>
            <a:fillRect/>
          </a:stretch>
        </p:blipFill>
        <p:spPr>
          <a:xfrm>
            <a:off x="826849" y="762000"/>
            <a:ext cx="7821039" cy="5707880"/>
          </a:xfrm>
          <a:prstGeom prst="rect">
            <a:avLst/>
          </a:prstGeom>
        </p:spPr>
      </p:pic>
    </p:spTree>
    <p:extLst>
      <p:ext uri="{BB962C8B-B14F-4D97-AF65-F5344CB8AC3E}">
        <p14:creationId xmlns:p14="http://schemas.microsoft.com/office/powerpoint/2010/main" val="2751358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BFAF9-A32B-B8F6-8277-180ACF2BAEF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DCBD90-864C-51D8-2988-91555244CDCA}"/>
              </a:ext>
            </a:extLst>
          </p:cNvPr>
          <p:cNvSpPr>
            <a:spLocks noGrp="1"/>
          </p:cNvSpPr>
          <p:nvPr>
            <p:ph type="sldNum" sz="quarter" idx="12"/>
          </p:nvPr>
        </p:nvSpPr>
        <p:spPr/>
        <p:txBody>
          <a:bodyPr/>
          <a:lstStyle/>
          <a:p>
            <a:fld id="{9EA0BE3B-158A-4EDF-80DC-E394A0D1600F}" type="slidenum">
              <a:rPr lang="en-US" smtClean="0"/>
              <a:pPr/>
              <a:t>7</a:t>
            </a:fld>
            <a:endParaRPr lang="en-US" dirty="0"/>
          </a:p>
        </p:txBody>
      </p:sp>
      <p:sp>
        <p:nvSpPr>
          <p:cNvPr id="3" name="Title 2">
            <a:extLst>
              <a:ext uri="{FF2B5EF4-FFF2-40B4-BE49-F238E27FC236}">
                <a16:creationId xmlns:a16="http://schemas.microsoft.com/office/drawing/2014/main" id="{F71F0140-58B2-8A3D-F458-DBB62E094525}"/>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2. </a:t>
            </a:r>
            <a:r>
              <a:rPr lang="en-US"/>
              <a:t>PHƯƠNG PHÁP ĐỀ XUẤT</a:t>
            </a:r>
            <a:endParaRPr lang="en-US">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20AB02B5-4556-2AA9-FEF0-F23DC21120EE}"/>
              </a:ext>
            </a:extLst>
          </p:cNvPr>
          <p:cNvSpPr>
            <a:spLocks noGrp="1"/>
          </p:cNvSpPr>
          <p:nvPr>
            <p:ph type="body" sz="quarter" idx="13"/>
          </p:nvPr>
        </p:nvSpPr>
        <p:spPr>
          <a:xfrm>
            <a:off x="250683" y="1092054"/>
            <a:ext cx="8674100" cy="5132832"/>
          </a:xfrm>
        </p:spPr>
        <p:txBody>
          <a:bodyPr/>
          <a:lstStyle/>
          <a:p>
            <a:pPr marL="0" indent="0">
              <a:buNone/>
            </a:pPr>
            <a:r>
              <a:rPr lang="en-US" sz="2000" b="1">
                <a:latin typeface="Arial" panose="020B0604020202020204" pitchFamily="34" charset="0"/>
                <a:cs typeface="Arial" panose="020B0604020202020204" pitchFamily="34" charset="0"/>
              </a:rPr>
              <a:t>2.</a:t>
            </a:r>
            <a:r>
              <a:rPr lang="vi-VN" sz="2000" b="1">
                <a:latin typeface="Arial" panose="020B0604020202020204" pitchFamily="34" charset="0"/>
                <a:cs typeface="Arial" panose="020B0604020202020204" pitchFamily="34" charset="0"/>
              </a:rPr>
              <a:t>1</a:t>
            </a:r>
            <a:r>
              <a:rPr lang="en-US" sz="2000" b="1">
                <a:latin typeface="Arial" panose="020B0604020202020204" pitchFamily="34" charset="0"/>
                <a:cs typeface="Arial" panose="020B0604020202020204" pitchFamily="34" charset="0"/>
              </a:rPr>
              <a:t>. Nhánh trình tự</a:t>
            </a:r>
          </a:p>
          <a:p>
            <a:pPr marL="0" indent="0">
              <a:buNone/>
            </a:pPr>
            <a:endParaRPr lang="vi-VN" sz="2000">
              <a:latin typeface="Arial" panose="020B0604020202020204" pitchFamily="34" charset="0"/>
              <a:cs typeface="Arial" panose="020B0604020202020204" pitchFamily="34" charset="0"/>
            </a:endParaRPr>
          </a:p>
          <a:p>
            <a:endParaRPr lang="en-US" sz="200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B54565DE-BB63-67FA-D766-164906E194F3}"/>
              </a:ext>
            </a:extLst>
          </p:cNvPr>
          <p:cNvPicPr>
            <a:picLocks noChangeAspect="1"/>
          </p:cNvPicPr>
          <p:nvPr/>
        </p:nvPicPr>
        <p:blipFill>
          <a:blip r:embed="rId2"/>
          <a:stretch>
            <a:fillRect/>
          </a:stretch>
        </p:blipFill>
        <p:spPr>
          <a:xfrm>
            <a:off x="786727" y="1613827"/>
            <a:ext cx="7602011" cy="2210108"/>
          </a:xfrm>
          <a:prstGeom prst="rect">
            <a:avLst/>
          </a:prstGeom>
        </p:spPr>
      </p:pic>
      <p:sp>
        <p:nvSpPr>
          <p:cNvPr id="7" name="TextBox 6">
            <a:extLst>
              <a:ext uri="{FF2B5EF4-FFF2-40B4-BE49-F238E27FC236}">
                <a16:creationId xmlns:a16="http://schemas.microsoft.com/office/drawing/2014/main" id="{FC915557-E398-F433-ABB7-C7165FAAE9DB}"/>
              </a:ext>
            </a:extLst>
          </p:cNvPr>
          <p:cNvSpPr txBox="1"/>
          <p:nvPr/>
        </p:nvSpPr>
        <p:spPr>
          <a:xfrm>
            <a:off x="325899" y="4027230"/>
            <a:ext cx="8523665" cy="707886"/>
          </a:xfrm>
          <a:prstGeom prst="rect">
            <a:avLst/>
          </a:prstGeom>
          <a:noFill/>
        </p:spPr>
        <p:txBody>
          <a:bodyPr wrap="square" rtlCol="0">
            <a:spAutoFit/>
          </a:bodyPr>
          <a:lstStyle/>
          <a:p>
            <a:pPr algn="just"/>
            <a:r>
              <a:rPr lang="en-US" sz="2000" b="1">
                <a:latin typeface="Arial" panose="020B0604020202020204" pitchFamily="34" charset="0"/>
                <a:cs typeface="Arial" panose="020B0604020202020204" pitchFamily="34" charset="0"/>
              </a:rPr>
              <a:t>Mô hình ESM-2 (Biến thể 650M)</a:t>
            </a:r>
            <a:r>
              <a:rPr lang="vi-VN" sz="2000" b="1">
                <a:latin typeface="Arial" panose="020B0604020202020204" pitchFamily="34" charset="0"/>
                <a:cs typeface="Arial" panose="020B0604020202020204" pitchFamily="34" charset="0"/>
              </a:rPr>
              <a:t>: </a:t>
            </a:r>
            <a:r>
              <a:rPr lang="en-US" sz="2000">
                <a:latin typeface="Arial" panose="020B0604020202020204" pitchFamily="34" charset="0"/>
                <a:cs typeface="Arial" panose="020B0604020202020204" pitchFamily="34" charset="0"/>
              </a:rPr>
              <a:t>Cân bằng hoàn hảo giữa chi phí tính toán (bộ nhớ, thời gian) và chất lượng dự </a:t>
            </a:r>
            <a:r>
              <a:rPr lang="vi-VN" sz="2000">
                <a:latin typeface="Arial" panose="020B0604020202020204" pitchFamily="34" charset="0"/>
                <a:cs typeface="Arial" panose="020B0604020202020204" pitchFamily="34" charset="0"/>
              </a:rPr>
              <a:t>đoán.</a:t>
            </a:r>
            <a:endParaRPr lang="vi-VN" sz="2000"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25693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201EA-1B2E-CFA5-C49E-0F3E2318377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6D07F9C-F43F-0E1B-A716-C29A3B6D3D09}"/>
              </a:ext>
            </a:extLst>
          </p:cNvPr>
          <p:cNvSpPr>
            <a:spLocks noGrp="1"/>
          </p:cNvSpPr>
          <p:nvPr>
            <p:ph type="sldNum" sz="quarter" idx="12"/>
          </p:nvPr>
        </p:nvSpPr>
        <p:spPr/>
        <p:txBody>
          <a:bodyPr/>
          <a:lstStyle/>
          <a:p>
            <a:fld id="{9EA0BE3B-158A-4EDF-80DC-E394A0D1600F}" type="slidenum">
              <a:rPr lang="en-US" smtClean="0"/>
              <a:pPr/>
              <a:t>8</a:t>
            </a:fld>
            <a:endParaRPr lang="en-US" dirty="0"/>
          </a:p>
        </p:txBody>
      </p:sp>
      <p:sp>
        <p:nvSpPr>
          <p:cNvPr id="3" name="Title 2">
            <a:extLst>
              <a:ext uri="{FF2B5EF4-FFF2-40B4-BE49-F238E27FC236}">
                <a16:creationId xmlns:a16="http://schemas.microsoft.com/office/drawing/2014/main" id="{E8F3E2E7-F50E-2E19-A3A3-16F856F1AD3F}"/>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2. </a:t>
            </a:r>
            <a:r>
              <a:rPr lang="en-US"/>
              <a:t>PHƯƠNG PHÁP ĐỀ XUẤT</a:t>
            </a:r>
            <a:endParaRPr lang="en-US">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EB980929-2E4C-630B-B471-8C87F45B336F}"/>
              </a:ext>
            </a:extLst>
          </p:cNvPr>
          <p:cNvSpPr>
            <a:spLocks noGrp="1"/>
          </p:cNvSpPr>
          <p:nvPr>
            <p:ph type="body" sz="quarter" idx="13"/>
          </p:nvPr>
        </p:nvSpPr>
        <p:spPr>
          <a:xfrm>
            <a:off x="250683" y="1005840"/>
            <a:ext cx="8674100" cy="5219046"/>
          </a:xfrm>
        </p:spPr>
        <p:txBody>
          <a:bodyPr/>
          <a:lstStyle/>
          <a:p>
            <a:pPr marL="0" indent="0">
              <a:buNone/>
            </a:pPr>
            <a:r>
              <a:rPr lang="en-US" sz="2000" b="1">
                <a:latin typeface="Arial" panose="020B0604020202020204" pitchFamily="34" charset="0"/>
                <a:cs typeface="Arial" panose="020B0604020202020204" pitchFamily="34" charset="0"/>
              </a:rPr>
              <a:t>2.</a:t>
            </a:r>
            <a:r>
              <a:rPr lang="vi-VN" sz="2000" b="1">
                <a:latin typeface="Arial" panose="020B0604020202020204" pitchFamily="34" charset="0"/>
                <a:cs typeface="Arial" panose="020B0604020202020204" pitchFamily="34" charset="0"/>
              </a:rPr>
              <a:t>2</a:t>
            </a:r>
            <a:r>
              <a:rPr lang="en-US" sz="2000" b="1">
                <a:latin typeface="Arial" panose="020B0604020202020204" pitchFamily="34" charset="0"/>
                <a:cs typeface="Arial" panose="020B0604020202020204" pitchFamily="34" charset="0"/>
              </a:rPr>
              <a:t>. Nhánh cấu trúc</a:t>
            </a:r>
            <a:br>
              <a:rPr lang="en-US" sz="2000">
                <a:latin typeface="Arial" panose="020B0604020202020204" pitchFamily="34" charset="0"/>
                <a:cs typeface="Arial" panose="020B0604020202020204" pitchFamily="34" charset="0"/>
              </a:rPr>
            </a:br>
            <a:endParaRPr lang="vi-VN" sz="2000">
              <a:latin typeface="Arial" panose="020B0604020202020204" pitchFamily="34" charset="0"/>
              <a:cs typeface="Arial" panose="020B0604020202020204" pitchFamily="34" charset="0"/>
            </a:endParaRPr>
          </a:p>
          <a:p>
            <a:endParaRPr lang="en-US" sz="200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5E1E561E-BBAC-AA1A-752E-2FE70CCE4043}"/>
              </a:ext>
            </a:extLst>
          </p:cNvPr>
          <p:cNvPicPr>
            <a:picLocks noChangeAspect="1"/>
          </p:cNvPicPr>
          <p:nvPr/>
        </p:nvPicPr>
        <p:blipFill>
          <a:blip r:embed="rId2"/>
          <a:stretch>
            <a:fillRect/>
          </a:stretch>
        </p:blipFill>
        <p:spPr>
          <a:xfrm>
            <a:off x="599392" y="1407158"/>
            <a:ext cx="7976681" cy="4554561"/>
          </a:xfrm>
          <a:prstGeom prst="rect">
            <a:avLst/>
          </a:prstGeom>
        </p:spPr>
      </p:pic>
      <p:pic>
        <p:nvPicPr>
          <p:cNvPr id="6" name="Picture 5">
            <a:extLst>
              <a:ext uri="{FF2B5EF4-FFF2-40B4-BE49-F238E27FC236}">
                <a16:creationId xmlns:a16="http://schemas.microsoft.com/office/drawing/2014/main" id="{05D449BE-70E8-BC04-A23A-6D2327597C07}"/>
              </a:ext>
            </a:extLst>
          </p:cNvPr>
          <p:cNvPicPr>
            <a:picLocks noChangeAspect="1"/>
          </p:cNvPicPr>
          <p:nvPr/>
        </p:nvPicPr>
        <p:blipFill>
          <a:blip r:embed="rId3"/>
          <a:stretch>
            <a:fillRect/>
          </a:stretch>
        </p:blipFill>
        <p:spPr>
          <a:xfrm>
            <a:off x="1709833" y="4618071"/>
            <a:ext cx="557880" cy="178212"/>
          </a:xfrm>
          <a:prstGeom prst="rect">
            <a:avLst/>
          </a:prstGeom>
        </p:spPr>
      </p:pic>
      <p:pic>
        <p:nvPicPr>
          <p:cNvPr id="7" name="Picture 6">
            <a:extLst>
              <a:ext uri="{FF2B5EF4-FFF2-40B4-BE49-F238E27FC236}">
                <a16:creationId xmlns:a16="http://schemas.microsoft.com/office/drawing/2014/main" id="{34B51B5A-B9A3-1C10-B376-7403261F4D5C}"/>
              </a:ext>
            </a:extLst>
          </p:cNvPr>
          <p:cNvPicPr>
            <a:picLocks noChangeAspect="1"/>
          </p:cNvPicPr>
          <p:nvPr/>
        </p:nvPicPr>
        <p:blipFill>
          <a:blip r:embed="rId4"/>
          <a:stretch>
            <a:fillRect/>
          </a:stretch>
        </p:blipFill>
        <p:spPr>
          <a:xfrm>
            <a:off x="1805686" y="4270831"/>
            <a:ext cx="462027" cy="166711"/>
          </a:xfrm>
          <a:prstGeom prst="rect">
            <a:avLst/>
          </a:prstGeom>
        </p:spPr>
      </p:pic>
    </p:spTree>
    <p:extLst>
      <p:ext uri="{BB962C8B-B14F-4D97-AF65-F5344CB8AC3E}">
        <p14:creationId xmlns:p14="http://schemas.microsoft.com/office/powerpoint/2010/main" val="3908973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9EEE0-D342-5C71-FFCB-C3479CA06D3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213158-631D-686F-E303-CCBDF9F60247}"/>
              </a:ext>
            </a:extLst>
          </p:cNvPr>
          <p:cNvSpPr>
            <a:spLocks noGrp="1"/>
          </p:cNvSpPr>
          <p:nvPr>
            <p:ph type="sldNum" sz="quarter" idx="12"/>
          </p:nvPr>
        </p:nvSpPr>
        <p:spPr/>
        <p:txBody>
          <a:bodyPr/>
          <a:lstStyle/>
          <a:p>
            <a:fld id="{9EA0BE3B-158A-4EDF-80DC-E394A0D1600F}" type="slidenum">
              <a:rPr lang="en-US" smtClean="0"/>
              <a:pPr/>
              <a:t>9</a:t>
            </a:fld>
            <a:endParaRPr lang="en-US" dirty="0"/>
          </a:p>
        </p:txBody>
      </p:sp>
      <p:sp>
        <p:nvSpPr>
          <p:cNvPr id="3" name="Title 2">
            <a:extLst>
              <a:ext uri="{FF2B5EF4-FFF2-40B4-BE49-F238E27FC236}">
                <a16:creationId xmlns:a16="http://schemas.microsoft.com/office/drawing/2014/main" id="{F69FF170-D915-6299-F038-428A5AD432E6}"/>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2. </a:t>
            </a:r>
            <a:r>
              <a:rPr lang="en-US"/>
              <a:t>PHƯƠNG PHÁP ĐỀ XUẤT</a:t>
            </a:r>
            <a:endParaRPr lang="en-US">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88AF108F-2F58-48FB-4351-9EB391F07E56}"/>
              </a:ext>
            </a:extLst>
          </p:cNvPr>
          <p:cNvSpPr>
            <a:spLocks noGrp="1"/>
          </p:cNvSpPr>
          <p:nvPr>
            <p:ph type="body" sz="quarter" idx="13"/>
          </p:nvPr>
        </p:nvSpPr>
        <p:spPr>
          <a:xfrm>
            <a:off x="250683" y="1092054"/>
            <a:ext cx="8674100" cy="5132832"/>
          </a:xfrm>
        </p:spPr>
        <p:txBody>
          <a:bodyPr/>
          <a:lstStyle/>
          <a:p>
            <a:pPr marL="0" indent="0">
              <a:buNone/>
            </a:pPr>
            <a:r>
              <a:rPr lang="en-US" sz="2000" b="1">
                <a:latin typeface="Arial" panose="020B0604020202020204" pitchFamily="34" charset="0"/>
                <a:cs typeface="Arial" panose="020B0604020202020204" pitchFamily="34" charset="0"/>
              </a:rPr>
              <a:t>2.</a:t>
            </a:r>
            <a:r>
              <a:rPr lang="vi-VN" sz="2000" b="1">
                <a:latin typeface="Arial" panose="020B0604020202020204" pitchFamily="34" charset="0"/>
                <a:cs typeface="Arial" panose="020B0604020202020204" pitchFamily="34" charset="0"/>
              </a:rPr>
              <a:t>3</a:t>
            </a:r>
            <a:r>
              <a:rPr lang="en-US" sz="2000" b="1">
                <a:latin typeface="Arial" panose="020B0604020202020204" pitchFamily="34" charset="0"/>
                <a:cs typeface="Arial" panose="020B0604020202020204" pitchFamily="34" charset="0"/>
              </a:rPr>
              <a:t>. Nhánh mạng tương tác PPI</a:t>
            </a:r>
          </a:p>
          <a:p>
            <a:pPr marL="0" indent="0">
              <a:buNone/>
            </a:pPr>
            <a:endParaRPr lang="vi-VN" sz="2000">
              <a:latin typeface="Arial" panose="020B0604020202020204" pitchFamily="34" charset="0"/>
              <a:cs typeface="Arial" panose="020B0604020202020204" pitchFamily="34" charset="0"/>
            </a:endParaRPr>
          </a:p>
          <a:p>
            <a:endParaRPr lang="en-US" sz="200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072BD991-D545-1C8B-5DDF-43F78F56120B}"/>
              </a:ext>
            </a:extLst>
          </p:cNvPr>
          <p:cNvPicPr>
            <a:picLocks noChangeAspect="1"/>
          </p:cNvPicPr>
          <p:nvPr/>
        </p:nvPicPr>
        <p:blipFill>
          <a:blip r:embed="rId2"/>
          <a:stretch>
            <a:fillRect/>
          </a:stretch>
        </p:blipFill>
        <p:spPr>
          <a:xfrm>
            <a:off x="780721" y="1496635"/>
            <a:ext cx="7582558" cy="1932365"/>
          </a:xfrm>
          <a:prstGeom prst="rect">
            <a:avLst/>
          </a:prstGeom>
        </p:spPr>
      </p:pic>
      <p:sp>
        <p:nvSpPr>
          <p:cNvPr id="6" name="TextBox 5">
            <a:extLst>
              <a:ext uri="{FF2B5EF4-FFF2-40B4-BE49-F238E27FC236}">
                <a16:creationId xmlns:a16="http://schemas.microsoft.com/office/drawing/2014/main" id="{AB7F05D2-D7BE-6D28-7282-04A75930809D}"/>
              </a:ext>
            </a:extLst>
          </p:cNvPr>
          <p:cNvSpPr txBox="1"/>
          <p:nvPr/>
        </p:nvSpPr>
        <p:spPr>
          <a:xfrm>
            <a:off x="219217" y="3813243"/>
            <a:ext cx="8564860" cy="1292662"/>
          </a:xfrm>
          <a:prstGeom prst="rect">
            <a:avLst/>
          </a:prstGeom>
          <a:noFill/>
        </p:spPr>
        <p:txBody>
          <a:bodyPr wrap="square" rtlCol="0">
            <a:spAutoFit/>
          </a:bodyPr>
          <a:lstStyle/>
          <a:p>
            <a:pPr algn="just"/>
            <a:r>
              <a:rPr lang="en-US" sz="2000">
                <a:latin typeface="Arial" panose="020B0604020202020204" pitchFamily="34" charset="0"/>
                <a:cs typeface="Arial" panose="020B0604020202020204" pitchFamily="34" charset="0"/>
              </a:rPr>
              <a:t>Thay vì gộp thành 1 vector duy nhất, hệ thống trích xuất một chuỗi token gồm: </a:t>
            </a:r>
            <a:r>
              <a:rPr lang="en-US">
                <a:latin typeface="Arial" panose="020B0604020202020204" pitchFamily="34" charset="0"/>
                <a:cs typeface="Arial" panose="020B0604020202020204" pitchFamily="34" charset="0"/>
              </a:rPr>
              <a:t>[Nút protein đích] + [Tối đa K láng giềng trực tiếp]</a:t>
            </a:r>
            <a:r>
              <a:rPr lang="en-US" sz="2000">
                <a:latin typeface="Arial" panose="020B0604020202020204" pitchFamily="34" charset="0"/>
                <a:cs typeface="Arial" panose="020B0604020202020204" pitchFamily="34" charset="0"/>
              </a:rPr>
              <a:t>.</a:t>
            </a:r>
            <a:endParaRPr lang="vi-VN" sz="2000">
              <a:latin typeface="Arial" panose="020B0604020202020204" pitchFamily="34" charset="0"/>
              <a:cs typeface="Arial" panose="020B0604020202020204" pitchFamily="34" charset="0"/>
            </a:endParaRPr>
          </a:p>
          <a:p>
            <a:pPr algn="just"/>
            <a:endParaRPr lang="vi-VN" sz="2000">
              <a:latin typeface="Arial" panose="020B0604020202020204" pitchFamily="34" charset="0"/>
              <a:cs typeface="Arial" panose="020B0604020202020204" pitchFamily="34" charset="0"/>
            </a:endParaRPr>
          </a:p>
          <a:p>
            <a:pPr algn="just"/>
            <a:r>
              <a:rPr lang="en-US">
                <a:latin typeface="Arial" panose="020B0604020202020204" pitchFamily="34" charset="0"/>
                <a:cs typeface="Arial" panose="020B0604020202020204" pitchFamily="34" charset="0"/>
              </a:rPr>
              <a:t>Xử lý </a:t>
            </a:r>
            <a:r>
              <a:rPr lang="vi-VN">
                <a:latin typeface="Arial" panose="020B0604020202020204" pitchFamily="34" charset="0"/>
                <a:cs typeface="Arial" panose="020B0604020202020204" pitchFamily="34" charset="0"/>
              </a:rPr>
              <a:t>t</a:t>
            </a:r>
            <a:r>
              <a:rPr lang="en-US">
                <a:latin typeface="Arial" panose="020B0604020202020204" pitchFamily="34" charset="0"/>
                <a:cs typeface="Arial" panose="020B0604020202020204" pitchFamily="34" charset="0"/>
              </a:rPr>
              <a:t>hiếu láng giềng: Zero-padding</a:t>
            </a:r>
            <a:r>
              <a:rPr lang="vi-VN">
                <a:latin typeface="Arial" panose="020B0604020202020204" pitchFamily="34" charset="0"/>
                <a:cs typeface="Arial" panose="020B0604020202020204" pitchFamily="34" charset="0"/>
              </a:rPr>
              <a:t> + Key padding mask</a:t>
            </a: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91514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3482D-ACB7-617E-6D8A-20226D3547E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1C3814D-2FA8-067D-821C-AA5622D513C7}"/>
              </a:ext>
            </a:extLst>
          </p:cNvPr>
          <p:cNvSpPr>
            <a:spLocks noGrp="1"/>
          </p:cNvSpPr>
          <p:nvPr>
            <p:ph type="sldNum" sz="quarter" idx="12"/>
          </p:nvPr>
        </p:nvSpPr>
        <p:spPr/>
        <p:txBody>
          <a:bodyPr/>
          <a:lstStyle/>
          <a:p>
            <a:fld id="{9EA0BE3B-158A-4EDF-80DC-E394A0D1600F}" type="slidenum">
              <a:rPr lang="en-US" smtClean="0"/>
              <a:pPr/>
              <a:t>10</a:t>
            </a:fld>
            <a:endParaRPr lang="en-US" dirty="0"/>
          </a:p>
        </p:txBody>
      </p:sp>
      <p:sp>
        <p:nvSpPr>
          <p:cNvPr id="3" name="Title 2">
            <a:extLst>
              <a:ext uri="{FF2B5EF4-FFF2-40B4-BE49-F238E27FC236}">
                <a16:creationId xmlns:a16="http://schemas.microsoft.com/office/drawing/2014/main" id="{AC3F8622-A180-0B62-499C-A513B7711DB2}"/>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2. </a:t>
            </a:r>
            <a:r>
              <a:rPr lang="en-US"/>
              <a:t>PHƯƠNG PHÁP ĐỀ XUẤT</a:t>
            </a:r>
            <a:endParaRPr lang="en-US">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F6E18E2F-9972-E20C-16FB-12A4F450D8BB}"/>
              </a:ext>
            </a:extLst>
          </p:cNvPr>
          <p:cNvSpPr>
            <a:spLocks noGrp="1"/>
          </p:cNvSpPr>
          <p:nvPr>
            <p:ph type="body" sz="quarter" idx="13"/>
          </p:nvPr>
        </p:nvSpPr>
        <p:spPr>
          <a:xfrm>
            <a:off x="250683" y="1092054"/>
            <a:ext cx="8674100" cy="5132832"/>
          </a:xfrm>
        </p:spPr>
        <p:txBody>
          <a:bodyPr/>
          <a:lstStyle/>
          <a:p>
            <a:pPr marL="0" indent="0">
              <a:buNone/>
            </a:pPr>
            <a:r>
              <a:rPr lang="en-US" sz="2000" b="1">
                <a:latin typeface="Arial" panose="020B0604020202020204" pitchFamily="34" charset="0"/>
                <a:cs typeface="Arial" panose="020B0604020202020204" pitchFamily="34" charset="0"/>
              </a:rPr>
              <a:t>2.</a:t>
            </a:r>
            <a:r>
              <a:rPr lang="vi-VN" sz="2000" b="1">
                <a:latin typeface="Arial" panose="020B0604020202020204" pitchFamily="34" charset="0"/>
                <a:cs typeface="Arial" panose="020B0604020202020204" pitchFamily="34" charset="0"/>
              </a:rPr>
              <a:t>4</a:t>
            </a:r>
            <a:r>
              <a:rPr lang="en-US" sz="2000" b="1">
                <a:latin typeface="Arial" panose="020B0604020202020204" pitchFamily="34" charset="0"/>
                <a:cs typeface="Arial" panose="020B0604020202020204" pitchFamily="34" charset="0"/>
              </a:rPr>
              <a:t>. Hợp nhất Đa phương thức</a:t>
            </a:r>
          </a:p>
          <a:p>
            <a:pPr marL="0" indent="0" algn="just">
              <a:buNone/>
            </a:pPr>
            <a:r>
              <a:rPr lang="en-US" sz="2000">
                <a:latin typeface="Arial" panose="020B0604020202020204" pitchFamily="34" charset="0"/>
                <a:cs typeface="Arial" panose="020B0604020202020204" pitchFamily="34" charset="0"/>
              </a:rPr>
              <a:t>Hạn chế của phương pháp cũ: Việc cộng hoặc nối (concat) vector tạo ra cách trộn tĩnh, không phân biệt được láng giềng PPI nào thực sự quan trọng đối với chức năng cần dự đoán.</a:t>
            </a:r>
          </a:p>
          <a:p>
            <a:pPr marL="0" indent="0" algn="just">
              <a:buNone/>
            </a:pPr>
            <a:r>
              <a:rPr lang="en-US" sz="2000">
                <a:latin typeface="Arial" panose="020B0604020202020204" pitchFamily="34" charset="0"/>
                <a:cs typeface="Arial" panose="020B0604020202020204" pitchFamily="34" charset="0"/>
                <a:sym typeface="Wingdings" panose="05000000000000000000" pitchFamily="2" charset="2"/>
              </a:rPr>
              <a:t> </a:t>
            </a:r>
            <a:r>
              <a:rPr lang="en-US" sz="2000">
                <a:latin typeface="Arial" panose="020B0604020202020204" pitchFamily="34" charset="0"/>
                <a:cs typeface="Arial" panose="020B0604020202020204" pitchFamily="34" charset="0"/>
              </a:rPr>
              <a:t>Đóng góp kỹ thuật</a:t>
            </a:r>
          </a:p>
          <a:p>
            <a:pPr lvl="1" algn="just"/>
            <a:r>
              <a:rPr lang="en-US" sz="2000">
                <a:latin typeface="Arial" panose="020B0604020202020204" pitchFamily="34" charset="0"/>
                <a:cs typeface="Arial" panose="020B0604020202020204" pitchFamily="34" charset="0"/>
              </a:rPr>
              <a:t>Luồng thông tin một chiều: Cấu trúc (3D) và Trình tự (1D) đóng vai trò là Truy vấn (Query).</a:t>
            </a:r>
          </a:p>
          <a:p>
            <a:pPr lvl="1" algn="just"/>
            <a:r>
              <a:rPr lang="en-US" sz="2000">
                <a:latin typeface="Arial" panose="020B0604020202020204" pitchFamily="34" charset="0"/>
                <a:cs typeface="Arial" panose="020B0604020202020204" pitchFamily="34" charset="0"/>
              </a:rPr>
              <a:t>Mạng lưới PPI đóng vai trò là Ngữ cảnh (Key/Value) để trả lời.</a:t>
            </a:r>
          </a:p>
          <a:p>
            <a:pPr lvl="1" algn="just"/>
            <a:r>
              <a:rPr lang="en-US" sz="2000">
                <a:latin typeface="Arial" panose="020B0604020202020204" pitchFamily="34" charset="0"/>
                <a:cs typeface="Arial" panose="020B0604020202020204" pitchFamily="34" charset="0"/>
              </a:rPr>
              <a:t>Đảm bảo đặc trưng nội tại của protein không bị ghi đè bởi thông tin ngoại lai.</a:t>
            </a:r>
          </a:p>
          <a:p>
            <a:pPr marL="0" indent="0">
              <a:buNone/>
            </a:pPr>
            <a:endParaRPr lang="en-US" sz="2000" b="1">
              <a:latin typeface="Arial" panose="020B0604020202020204" pitchFamily="34" charset="0"/>
              <a:cs typeface="Arial" panose="020B0604020202020204" pitchFamily="34" charset="0"/>
            </a:endParaRPr>
          </a:p>
          <a:p>
            <a:pPr marL="0" indent="0">
              <a:buNone/>
            </a:pPr>
            <a:endParaRPr lang="vi-VN" sz="2000" b="1">
              <a:latin typeface="Arial" panose="020B0604020202020204" pitchFamily="34" charset="0"/>
              <a:cs typeface="Arial" panose="020B0604020202020204" pitchFamily="34" charset="0"/>
            </a:endParaRPr>
          </a:p>
          <a:p>
            <a:endParaRPr lang="en-US" sz="2000"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4180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312E6-EFC1-725D-E789-1C8ABC42E36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EB227E-177D-3E28-AEC6-33BF964034FF}"/>
              </a:ext>
            </a:extLst>
          </p:cNvPr>
          <p:cNvSpPr>
            <a:spLocks noGrp="1"/>
          </p:cNvSpPr>
          <p:nvPr>
            <p:ph type="sldNum" sz="quarter" idx="12"/>
          </p:nvPr>
        </p:nvSpPr>
        <p:spPr/>
        <p:txBody>
          <a:bodyPr/>
          <a:lstStyle/>
          <a:p>
            <a:fld id="{9EA0BE3B-158A-4EDF-80DC-E394A0D1600F}" type="slidenum">
              <a:rPr lang="en-US" smtClean="0"/>
              <a:pPr/>
              <a:t>11</a:t>
            </a:fld>
            <a:endParaRPr lang="en-US" dirty="0"/>
          </a:p>
        </p:txBody>
      </p:sp>
      <p:sp>
        <p:nvSpPr>
          <p:cNvPr id="3" name="Title 2">
            <a:extLst>
              <a:ext uri="{FF2B5EF4-FFF2-40B4-BE49-F238E27FC236}">
                <a16:creationId xmlns:a16="http://schemas.microsoft.com/office/drawing/2014/main" id="{05A56813-9F29-4A65-A927-10DB6AB7AAAF}"/>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2. </a:t>
            </a:r>
            <a:r>
              <a:rPr lang="en-US"/>
              <a:t>PHƯƠNG PHÁP ĐỀ XUẤT</a:t>
            </a:r>
            <a:endParaRPr lang="en-US">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4E7CAB12-03A9-1329-7533-D89DB953F77B}"/>
              </a:ext>
            </a:extLst>
          </p:cNvPr>
          <p:cNvSpPr>
            <a:spLocks noGrp="1"/>
          </p:cNvSpPr>
          <p:nvPr>
            <p:ph type="body" sz="quarter" idx="13"/>
          </p:nvPr>
        </p:nvSpPr>
        <p:spPr>
          <a:xfrm>
            <a:off x="250683" y="1092054"/>
            <a:ext cx="8674100" cy="5132832"/>
          </a:xfrm>
        </p:spPr>
        <p:txBody>
          <a:bodyPr/>
          <a:lstStyle/>
          <a:p>
            <a:pPr marL="0" indent="0" algn="just">
              <a:buNone/>
            </a:pPr>
            <a:r>
              <a:rPr lang="en-US" sz="2000" b="1">
                <a:latin typeface="Arial" panose="020B0604020202020204" pitchFamily="34" charset="0"/>
                <a:cs typeface="Arial" panose="020B0604020202020204" pitchFamily="34" charset="0"/>
              </a:rPr>
              <a:t>2.</a:t>
            </a:r>
            <a:r>
              <a:rPr lang="vi-VN" sz="2000" b="1">
                <a:latin typeface="Arial" panose="020B0604020202020204" pitchFamily="34" charset="0"/>
                <a:cs typeface="Arial" panose="020B0604020202020204" pitchFamily="34" charset="0"/>
              </a:rPr>
              <a:t>5</a:t>
            </a:r>
            <a:r>
              <a:rPr lang="en-US" sz="2000" b="1">
                <a:latin typeface="Arial" panose="020B0604020202020204" pitchFamily="34" charset="0"/>
                <a:cs typeface="Arial" panose="020B0604020202020204" pitchFamily="34" charset="0"/>
              </a:rPr>
              <a:t>. Tầng dự đoán và Ràng buộc phân cấp GO</a:t>
            </a:r>
            <a:endParaRPr lang="vi-VN" sz="2000" b="1">
              <a:latin typeface="Arial" panose="020B0604020202020204" pitchFamily="34" charset="0"/>
              <a:cs typeface="Arial" panose="020B0604020202020204" pitchFamily="34" charset="0"/>
            </a:endParaRPr>
          </a:p>
          <a:p>
            <a:pPr marL="0" indent="0" algn="just">
              <a:buNone/>
            </a:pPr>
            <a:endParaRPr lang="en-US" sz="2000" b="1">
              <a:latin typeface="Arial" panose="020B0604020202020204" pitchFamily="34" charset="0"/>
              <a:cs typeface="Arial" panose="020B0604020202020204" pitchFamily="34" charset="0"/>
            </a:endParaRPr>
          </a:p>
          <a:p>
            <a:pPr marL="0" indent="0" algn="just">
              <a:buNone/>
            </a:pPr>
            <a:r>
              <a:rPr lang="en-US" sz="2000">
                <a:latin typeface="Arial" panose="020B0604020202020204" pitchFamily="34" charset="0"/>
                <a:cs typeface="Arial" panose="020B0604020202020204" pitchFamily="34" charset="0"/>
              </a:rPr>
              <a:t>Dự đoán Multi-label: Sử dụng mạng MLP 3 lớp xuất ra xác suất (sigmoid) cho độc lập từng thuật ngữ GO, tối ưu bằng hàm mất mát BCEWithLogitsLoss.</a:t>
            </a:r>
            <a:endParaRPr lang="vi-VN" sz="2000">
              <a:latin typeface="Arial" panose="020B0604020202020204" pitchFamily="34" charset="0"/>
              <a:cs typeface="Arial" panose="020B0604020202020204" pitchFamily="34" charset="0"/>
            </a:endParaRPr>
          </a:p>
          <a:p>
            <a:pPr marL="0" indent="0" algn="just">
              <a:buNone/>
            </a:pPr>
            <a:endParaRPr lang="en-US" sz="2000">
              <a:latin typeface="Arial" panose="020B0604020202020204" pitchFamily="34" charset="0"/>
              <a:cs typeface="Arial" panose="020B0604020202020204" pitchFamily="34" charset="0"/>
            </a:endParaRPr>
          </a:p>
          <a:p>
            <a:pPr marL="0" indent="0" algn="just">
              <a:buNone/>
            </a:pPr>
            <a:r>
              <a:rPr lang="en-US" sz="2000" b="1">
                <a:latin typeface="Arial" panose="020B0604020202020204" pitchFamily="34" charset="0"/>
                <a:cs typeface="Arial" panose="020B0604020202020204" pitchFamily="34" charset="0"/>
              </a:rPr>
              <a:t>Ràng buộc phân cấp (True-path rule):</a:t>
            </a:r>
          </a:p>
          <a:p>
            <a:pPr lvl="1" algn="just"/>
            <a:r>
              <a:rPr lang="en-US" sz="2000">
                <a:latin typeface="Arial" panose="020B0604020202020204" pitchFamily="34" charset="0"/>
                <a:cs typeface="Arial" panose="020B0604020202020204" pitchFamily="34" charset="0"/>
              </a:rPr>
              <a:t>Áp dụng ở bước suy luận (inference) để đảm bảo tính nhất quán sinh học (điểm thuật ngữ con &lt;= thuật ngữ cha).</a:t>
            </a:r>
          </a:p>
          <a:p>
            <a:pPr lvl="1" algn="just"/>
            <a:r>
              <a:rPr lang="en-US" sz="2000">
                <a:latin typeface="Arial" panose="020B0604020202020204" pitchFamily="34" charset="0"/>
                <a:cs typeface="Arial" panose="020B0604020202020204" pitchFamily="34" charset="0"/>
              </a:rPr>
              <a:t>Lan truyền giá trị Max dọc theo đồ thị DAG của GO trong</a:t>
            </a:r>
            <a:r>
              <a:rPr lang="vi-VN" sz="2000">
                <a:latin typeface="Arial" panose="020B0604020202020204" pitchFamily="34" charset="0"/>
                <a:cs typeface="Arial" panose="020B0604020202020204" pitchFamily="34" charset="0"/>
              </a:rPr>
              <a:t> t </a:t>
            </a:r>
            <a:r>
              <a:rPr lang="en-US" sz="2000">
                <a:latin typeface="Arial" panose="020B0604020202020204" pitchFamily="34" charset="0"/>
                <a:cs typeface="Arial" panose="020B0604020202020204" pitchFamily="34" charset="0"/>
              </a:rPr>
              <a:t>vòng lặp </a:t>
            </a:r>
          </a:p>
          <a:p>
            <a:pPr marL="0" indent="0" algn="just">
              <a:buNone/>
            </a:pPr>
            <a:endParaRPr lang="en-US" sz="2000">
              <a:latin typeface="Arial" panose="020B0604020202020204" pitchFamily="34" charset="0"/>
              <a:cs typeface="Arial" panose="020B0604020202020204" pitchFamily="34" charset="0"/>
            </a:endParaRPr>
          </a:p>
          <a:p>
            <a:pPr marL="0" indent="0" algn="just">
              <a:buNone/>
            </a:pP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7548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BC0AC-B61F-A9BC-654F-B8546FEB46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488327-5E4D-B298-5B94-AB15621F8EB1}"/>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3. Đánh giá &amp; Thực nghiệm</a:t>
            </a:r>
          </a:p>
        </p:txBody>
      </p:sp>
      <p:sp>
        <p:nvSpPr>
          <p:cNvPr id="5" name="Slide Number Placeholder 4">
            <a:extLst>
              <a:ext uri="{FF2B5EF4-FFF2-40B4-BE49-F238E27FC236}">
                <a16:creationId xmlns:a16="http://schemas.microsoft.com/office/drawing/2014/main" id="{F8EE1897-6FD1-F06B-0B65-6212CC3767E5}"/>
              </a:ext>
            </a:extLst>
          </p:cNvPr>
          <p:cNvSpPr>
            <a:spLocks noGrp="1"/>
          </p:cNvSpPr>
          <p:nvPr>
            <p:ph type="sldNum" sz="quarter" idx="12"/>
          </p:nvPr>
        </p:nvSpPr>
        <p:spPr/>
        <p:txBody>
          <a:bodyPr/>
          <a:lstStyle/>
          <a:p>
            <a:fld id="{9EA0BE3B-158A-4EDF-80DC-E394A0D1600F}" type="slidenum">
              <a:rPr lang="en-US" smtClean="0"/>
              <a:pPr/>
              <a:t>12</a:t>
            </a:fld>
            <a:endParaRPr lang="en-US" dirty="0"/>
          </a:p>
        </p:txBody>
      </p:sp>
      <p:sp>
        <p:nvSpPr>
          <p:cNvPr id="3" name="TextBox 2">
            <a:extLst>
              <a:ext uri="{FF2B5EF4-FFF2-40B4-BE49-F238E27FC236}">
                <a16:creationId xmlns:a16="http://schemas.microsoft.com/office/drawing/2014/main" id="{6341CB43-AEE8-B58F-032C-D1B88325567E}"/>
              </a:ext>
            </a:extLst>
          </p:cNvPr>
          <p:cNvSpPr txBox="1"/>
          <p:nvPr/>
        </p:nvSpPr>
        <p:spPr>
          <a:xfrm>
            <a:off x="235077" y="975360"/>
            <a:ext cx="8821374" cy="707886"/>
          </a:xfrm>
          <a:prstGeom prst="rect">
            <a:avLst/>
          </a:prstGeom>
          <a:noFill/>
        </p:spPr>
        <p:txBody>
          <a:bodyPr wrap="square" rtlCol="0">
            <a:spAutoFit/>
          </a:bodyPr>
          <a:lstStyle/>
          <a:p>
            <a:r>
              <a:rPr lang="en-US" sz="2000" b="1">
                <a:latin typeface="Arial" panose="020B0604020202020204" pitchFamily="34" charset="0"/>
                <a:cs typeface="Arial" panose="020B0604020202020204" pitchFamily="34" charset="0"/>
              </a:rPr>
              <a:t>3.1. Các </a:t>
            </a:r>
            <a:r>
              <a:rPr lang="vi-VN" sz="2000" b="1">
                <a:latin typeface="Arial" panose="020B0604020202020204" pitchFamily="34" charset="0"/>
                <a:cs typeface="Arial" panose="020B0604020202020204" pitchFamily="34" charset="0"/>
              </a:rPr>
              <a:t>chỉ</a:t>
            </a:r>
            <a:r>
              <a:rPr lang="en-US" sz="2000" b="1">
                <a:latin typeface="Arial" panose="020B0604020202020204" pitchFamily="34" charset="0"/>
                <a:cs typeface="Arial" panose="020B0604020202020204" pitchFamily="34" charset="0"/>
              </a:rPr>
              <a:t> số đánh giá:</a:t>
            </a:r>
          </a:p>
          <a:p>
            <a:endParaRPr lang="en-US" sz="2000" b="1">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EF7397B8-B27B-E29E-9770-F921AFE4A352}"/>
              </a:ext>
            </a:extLst>
          </p:cNvPr>
          <p:cNvPicPr>
            <a:picLocks noChangeAspect="1"/>
          </p:cNvPicPr>
          <p:nvPr/>
        </p:nvPicPr>
        <p:blipFill>
          <a:blip r:embed="rId2"/>
          <a:stretch>
            <a:fillRect/>
          </a:stretch>
        </p:blipFill>
        <p:spPr>
          <a:xfrm>
            <a:off x="422476" y="1622469"/>
            <a:ext cx="8299048" cy="2577445"/>
          </a:xfrm>
          <a:prstGeom prst="rect">
            <a:avLst/>
          </a:prstGeom>
        </p:spPr>
      </p:pic>
      <p:sp>
        <p:nvSpPr>
          <p:cNvPr id="7" name="TextBox 6">
            <a:extLst>
              <a:ext uri="{FF2B5EF4-FFF2-40B4-BE49-F238E27FC236}">
                <a16:creationId xmlns:a16="http://schemas.microsoft.com/office/drawing/2014/main" id="{8F702CEF-C7D7-0257-793C-3AF2839BC65E}"/>
              </a:ext>
            </a:extLst>
          </p:cNvPr>
          <p:cNvSpPr txBox="1"/>
          <p:nvPr/>
        </p:nvSpPr>
        <p:spPr>
          <a:xfrm>
            <a:off x="525359" y="4199914"/>
            <a:ext cx="8093281" cy="1077218"/>
          </a:xfrm>
          <a:prstGeom prst="rect">
            <a:avLst/>
          </a:prstGeom>
          <a:noFill/>
        </p:spPr>
        <p:txBody>
          <a:bodyPr wrap="square">
            <a:spAutoFit/>
          </a:bodyPr>
          <a:lstStyle/>
          <a:p>
            <a:pPr marL="285750" indent="-285750" algn="just">
              <a:buFont typeface="Arial" panose="020B0604020202020204" pitchFamily="34" charset="0"/>
              <a:buChar char="•"/>
            </a:pPr>
            <a:r>
              <a:rPr lang="en-US" sz="1600">
                <a:latin typeface="Arial" panose="020B0604020202020204" pitchFamily="34" charset="0"/>
                <a:cs typeface="Arial" panose="020B0604020202020204" pitchFamily="34" charset="0"/>
              </a:rPr>
              <a:t>AUC (Area Under the ROC Curve): phản ánh khả năng phân biệt của mô hình giữa các nhãn chức năng đúng và sai trên nhiều ngưỡng phân loại khác nhau. </a:t>
            </a:r>
          </a:p>
          <a:p>
            <a:pPr marL="285750" indent="-285750">
              <a:buFont typeface="Arial" panose="020B0604020202020204" pitchFamily="34" charset="0"/>
              <a:buChar char="•"/>
            </a:pPr>
            <a:r>
              <a:rPr lang="en-US" sz="1600">
                <a:latin typeface="Arial" panose="020B0604020202020204" pitchFamily="34" charset="0"/>
                <a:cs typeface="Arial" panose="020B0604020202020204" pitchFamily="34" charset="0"/>
              </a:rPr>
              <a:t>AUPR (Area Under the Precision-Recall Curve). AUPR đo diện tích dưới đường cong Precision-Recall</a:t>
            </a:r>
            <a:endParaRPr lang="en-US" sz="1600"/>
          </a:p>
        </p:txBody>
      </p:sp>
    </p:spTree>
    <p:extLst>
      <p:ext uri="{BB962C8B-B14F-4D97-AF65-F5344CB8AC3E}">
        <p14:creationId xmlns:p14="http://schemas.microsoft.com/office/powerpoint/2010/main" val="3683238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825B9-8139-1CC5-9CE8-FDEE2097A43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0B0D72-E641-94A8-2268-46413BDAFD21}"/>
              </a:ext>
            </a:extLst>
          </p:cNvPr>
          <p:cNvSpPr>
            <a:spLocks noGrp="1"/>
          </p:cNvSpPr>
          <p:nvPr>
            <p:ph type="sldNum" sz="quarter" idx="12"/>
          </p:nvPr>
        </p:nvSpPr>
        <p:spPr/>
        <p:txBody>
          <a:bodyPr/>
          <a:lstStyle/>
          <a:p>
            <a:fld id="{9EA0BE3B-158A-4EDF-80DC-E394A0D1600F}" type="slidenum">
              <a:rPr lang="en-US" smtClean="0"/>
              <a:pPr/>
              <a:t>13</a:t>
            </a:fld>
            <a:endParaRPr lang="en-US" dirty="0"/>
          </a:p>
        </p:txBody>
      </p:sp>
      <p:sp>
        <p:nvSpPr>
          <p:cNvPr id="3" name="Title 2">
            <a:extLst>
              <a:ext uri="{FF2B5EF4-FFF2-40B4-BE49-F238E27FC236}">
                <a16:creationId xmlns:a16="http://schemas.microsoft.com/office/drawing/2014/main" id="{2A9C05B4-6613-467D-85ED-226B6A4F7C9A}"/>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3. Đánh giá &amp; Thực nghiệm</a:t>
            </a:r>
          </a:p>
        </p:txBody>
      </p:sp>
      <p:sp>
        <p:nvSpPr>
          <p:cNvPr id="4" name="Text Placeholder 3">
            <a:extLst>
              <a:ext uri="{FF2B5EF4-FFF2-40B4-BE49-F238E27FC236}">
                <a16:creationId xmlns:a16="http://schemas.microsoft.com/office/drawing/2014/main" id="{8B8AF222-FB08-3F8F-87E1-D752A635F113}"/>
              </a:ext>
            </a:extLst>
          </p:cNvPr>
          <p:cNvSpPr>
            <a:spLocks noGrp="1"/>
          </p:cNvSpPr>
          <p:nvPr>
            <p:ph type="body" sz="quarter" idx="13"/>
          </p:nvPr>
        </p:nvSpPr>
        <p:spPr>
          <a:xfrm>
            <a:off x="219217" y="1134319"/>
            <a:ext cx="8674100" cy="5437807"/>
          </a:xfrm>
        </p:spPr>
        <p:txBody>
          <a:bodyPr/>
          <a:lstStyle/>
          <a:p>
            <a:pPr marL="0" indent="0" algn="just">
              <a:buNone/>
            </a:pPr>
            <a:r>
              <a:rPr lang="en-US" sz="2000" b="1">
                <a:latin typeface="Arial" panose="020B0604020202020204" pitchFamily="34" charset="0"/>
                <a:cs typeface="Arial" panose="020B0604020202020204" pitchFamily="34" charset="0"/>
              </a:rPr>
              <a:t>3.2. Nguồn dữ liệu</a:t>
            </a:r>
            <a:endParaRPr lang="vi-VN" sz="2000" b="1">
              <a:latin typeface="Arial" panose="020B0604020202020204" pitchFamily="34" charset="0"/>
              <a:cs typeface="Arial" panose="020B0604020202020204" pitchFamily="34" charset="0"/>
            </a:endParaRPr>
          </a:p>
          <a:p>
            <a:pPr marL="0" indent="0" algn="just">
              <a:buNone/>
            </a:pPr>
            <a:endParaRPr lang="vi-VN" sz="2000">
              <a:latin typeface="Arial" panose="020B0604020202020204" pitchFamily="34" charset="0"/>
              <a:cs typeface="Arial" panose="020B0604020202020204" pitchFamily="34" charset="0"/>
            </a:endParaRPr>
          </a:p>
          <a:p>
            <a:pPr algn="just"/>
            <a:endParaRPr lang="en-US" sz="2000">
              <a:latin typeface="Arial" panose="020B0604020202020204" pitchFamily="34" charset="0"/>
              <a:cs typeface="Arial" panose="020B0604020202020204" pitchFamily="34" charset="0"/>
            </a:endParaRPr>
          </a:p>
          <a:p>
            <a:pPr algn="just"/>
            <a:endParaRPr lang="en-US" sz="2000">
              <a:latin typeface="Arial" panose="020B0604020202020204" pitchFamily="34" charset="0"/>
              <a:cs typeface="Arial" panose="020B0604020202020204" pitchFamily="34" charset="0"/>
            </a:endParaRPr>
          </a:p>
          <a:p>
            <a:pPr algn="just"/>
            <a:endParaRPr lang="en-US" sz="2000">
              <a:latin typeface="Arial" panose="020B0604020202020204" pitchFamily="34" charset="0"/>
              <a:cs typeface="Arial" panose="020B0604020202020204" pitchFamily="34" charset="0"/>
            </a:endParaRPr>
          </a:p>
          <a:p>
            <a:pPr algn="just"/>
            <a:endParaRPr lang="en-US" sz="2000">
              <a:latin typeface="Arial" panose="020B0604020202020204" pitchFamily="34" charset="0"/>
              <a:cs typeface="Arial" panose="020B0604020202020204" pitchFamily="34" charset="0"/>
            </a:endParaRPr>
          </a:p>
          <a:p>
            <a:pPr algn="just"/>
            <a:endParaRPr lang="en-US" sz="2000">
              <a:latin typeface="Arial" panose="020B0604020202020204" pitchFamily="34" charset="0"/>
              <a:cs typeface="Arial" panose="020B0604020202020204" pitchFamily="34" charset="0"/>
            </a:endParaRPr>
          </a:p>
          <a:p>
            <a:pPr marL="0" indent="0" algn="just">
              <a:buNone/>
            </a:pPr>
            <a:endParaRPr lang="en-US" sz="2000">
              <a:latin typeface="Arial" panose="020B0604020202020204" pitchFamily="34" charset="0"/>
              <a:cs typeface="Arial" panose="020B0604020202020204" pitchFamily="34" charset="0"/>
            </a:endParaRPr>
          </a:p>
          <a:p>
            <a:pPr marL="0" indent="0" algn="just">
              <a:buNone/>
            </a:pPr>
            <a:r>
              <a:rPr lang="en-US" sz="2000">
                <a:latin typeface="Arial" panose="020B0604020202020204" pitchFamily="34" charset="0"/>
                <a:cs typeface="Arial" panose="020B0604020202020204" pitchFamily="34" charset="0"/>
              </a:rPr>
              <a:t>       </a:t>
            </a:r>
            <a:r>
              <a:rPr lang="vi-VN" sz="2000">
                <a:latin typeface="Arial" panose="020B0604020202020204" pitchFamily="34" charset="0"/>
                <a:cs typeface="Arial" panose="020B0604020202020204" pitchFamily="34" charset="0"/>
              </a:rPr>
              <a:t>Chia train/valid/test theo tỷ lệ 70% / 20% / 10%</a:t>
            </a:r>
          </a:p>
          <a:p>
            <a:pPr algn="just"/>
            <a:endParaRPr lang="en-US">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4C966F5D-C068-CDD4-AEDC-BA98FC51E191}"/>
              </a:ext>
            </a:extLst>
          </p:cNvPr>
          <p:cNvSpPr txBox="1"/>
          <p:nvPr/>
        </p:nvSpPr>
        <p:spPr>
          <a:xfrm>
            <a:off x="670064" y="3668556"/>
            <a:ext cx="2275046" cy="369332"/>
          </a:xfrm>
          <a:prstGeom prst="rect">
            <a:avLst/>
          </a:prstGeom>
          <a:noFill/>
        </p:spPr>
        <p:txBody>
          <a:bodyPr wrap="none" rtlCol="0">
            <a:spAutoFit/>
          </a:bodyPr>
          <a:lstStyle/>
          <a:p>
            <a:pPr algn="just"/>
            <a:r>
              <a:rPr lang="vi-VN">
                <a:cs typeface="Arial" panose="020B0604020202020204" pitchFamily="34" charset="0"/>
              </a:rPr>
              <a:t>Cấu trúc AlphaFold2</a:t>
            </a:r>
          </a:p>
        </p:txBody>
      </p:sp>
      <p:sp>
        <p:nvSpPr>
          <p:cNvPr id="7" name="TextBox 6">
            <a:extLst>
              <a:ext uri="{FF2B5EF4-FFF2-40B4-BE49-F238E27FC236}">
                <a16:creationId xmlns:a16="http://schemas.microsoft.com/office/drawing/2014/main" id="{569E8C17-366B-7508-F41F-79EA8D0AB397}"/>
              </a:ext>
            </a:extLst>
          </p:cNvPr>
          <p:cNvSpPr txBox="1"/>
          <p:nvPr/>
        </p:nvSpPr>
        <p:spPr>
          <a:xfrm>
            <a:off x="3756741" y="3634975"/>
            <a:ext cx="1830373" cy="369332"/>
          </a:xfrm>
          <a:prstGeom prst="rect">
            <a:avLst/>
          </a:prstGeom>
          <a:noFill/>
        </p:spPr>
        <p:txBody>
          <a:bodyPr wrap="none" rtlCol="0">
            <a:spAutoFit/>
          </a:bodyPr>
          <a:lstStyle/>
          <a:p>
            <a:pPr algn="just"/>
            <a:r>
              <a:rPr lang="vi-VN">
                <a:cs typeface="Arial" panose="020B0604020202020204" pitchFamily="34" charset="0"/>
              </a:rPr>
              <a:t>Trình tự UniProt</a:t>
            </a:r>
          </a:p>
        </p:txBody>
      </p:sp>
      <p:sp>
        <p:nvSpPr>
          <p:cNvPr id="8" name="TextBox 7">
            <a:extLst>
              <a:ext uri="{FF2B5EF4-FFF2-40B4-BE49-F238E27FC236}">
                <a16:creationId xmlns:a16="http://schemas.microsoft.com/office/drawing/2014/main" id="{FA7B3847-34D4-0D82-1F76-9FF71B27CF30}"/>
              </a:ext>
            </a:extLst>
          </p:cNvPr>
          <p:cNvSpPr txBox="1"/>
          <p:nvPr/>
        </p:nvSpPr>
        <p:spPr>
          <a:xfrm>
            <a:off x="6653090" y="3634975"/>
            <a:ext cx="1428596" cy="369332"/>
          </a:xfrm>
          <a:prstGeom prst="rect">
            <a:avLst/>
          </a:prstGeom>
          <a:noFill/>
        </p:spPr>
        <p:txBody>
          <a:bodyPr wrap="none" rtlCol="0">
            <a:spAutoFit/>
          </a:bodyPr>
          <a:lstStyle/>
          <a:p>
            <a:r>
              <a:rPr lang="en-US">
                <a:latin typeface="Arial" panose="020B0604020202020204" pitchFamily="34" charset="0"/>
                <a:cs typeface="Arial" panose="020B0604020202020204" pitchFamily="34" charset="0"/>
              </a:rPr>
              <a:t>Mạng </a:t>
            </a:r>
            <a:r>
              <a:rPr lang="vi-VN">
                <a:latin typeface="Arial" panose="020B0604020202020204" pitchFamily="34" charset="0"/>
                <a:cs typeface="Arial" panose="020B0604020202020204" pitchFamily="34" charset="0"/>
              </a:rPr>
              <a:t>String</a:t>
            </a:r>
            <a:endParaRPr lang="en-US"/>
          </a:p>
        </p:txBody>
      </p:sp>
      <p:pic>
        <p:nvPicPr>
          <p:cNvPr id="9" name="Picture 8" descr="Levels of protein structure – tertiary | Biomacromolecular structures">
            <a:extLst>
              <a:ext uri="{FF2B5EF4-FFF2-40B4-BE49-F238E27FC236}">
                <a16:creationId xmlns:a16="http://schemas.microsoft.com/office/drawing/2014/main" id="{FB3B544D-BB2A-3FFF-E72B-EF17A75E6A54}"/>
              </a:ext>
            </a:extLst>
          </p:cNvPr>
          <p:cNvPicPr>
            <a:picLocks noChangeAspect="1"/>
          </p:cNvPicPr>
          <p:nvPr/>
        </p:nvPicPr>
        <p:blipFill>
          <a:blip r:embed="rId2"/>
          <a:stretch>
            <a:fillRect/>
          </a:stretch>
        </p:blipFill>
        <p:spPr>
          <a:xfrm>
            <a:off x="729389" y="1676067"/>
            <a:ext cx="2061584" cy="1958908"/>
          </a:xfrm>
          <a:prstGeom prst="rect">
            <a:avLst/>
          </a:prstGeom>
        </p:spPr>
      </p:pic>
      <p:pic>
        <p:nvPicPr>
          <p:cNvPr id="10" name="Picture 9" descr="Protein Chain: Over 5,601 Royalty-Free Licensable Stock Illustrations &amp;  Drawings | Shutterstock">
            <a:extLst>
              <a:ext uri="{FF2B5EF4-FFF2-40B4-BE49-F238E27FC236}">
                <a16:creationId xmlns:a16="http://schemas.microsoft.com/office/drawing/2014/main" id="{6A06A71D-635D-5CB1-5196-E852ED331D55}"/>
              </a:ext>
            </a:extLst>
          </p:cNvPr>
          <p:cNvPicPr>
            <a:picLocks noChangeAspect="1"/>
          </p:cNvPicPr>
          <p:nvPr/>
        </p:nvPicPr>
        <p:blipFill>
          <a:blip r:embed="rId3"/>
          <a:srcRect l="73258" t="10790" r="2433" b="35957"/>
          <a:stretch>
            <a:fillRect/>
          </a:stretch>
        </p:blipFill>
        <p:spPr>
          <a:xfrm>
            <a:off x="3997320" y="1852297"/>
            <a:ext cx="1449422" cy="1522414"/>
          </a:xfrm>
          <a:prstGeom prst="rect">
            <a:avLst/>
          </a:prstGeom>
        </p:spPr>
      </p:pic>
      <p:pic>
        <p:nvPicPr>
          <p:cNvPr id="11" name="Picture 10" descr="Abstract Connected Network Graph Nodes Lines Stock Vector (Royalty Free)  2621341391 | Shutterstock">
            <a:extLst>
              <a:ext uri="{FF2B5EF4-FFF2-40B4-BE49-F238E27FC236}">
                <a16:creationId xmlns:a16="http://schemas.microsoft.com/office/drawing/2014/main" id="{695F6EFF-F68E-A2E7-49C8-69CE2881148A}"/>
              </a:ext>
            </a:extLst>
          </p:cNvPr>
          <p:cNvPicPr>
            <a:picLocks noChangeAspect="1"/>
          </p:cNvPicPr>
          <p:nvPr/>
        </p:nvPicPr>
        <p:blipFill>
          <a:blip r:embed="rId4"/>
          <a:srcRect b="8430"/>
          <a:stretch>
            <a:fillRect/>
          </a:stretch>
        </p:blipFill>
        <p:spPr>
          <a:xfrm>
            <a:off x="6552882" y="1810281"/>
            <a:ext cx="1629013" cy="1606447"/>
          </a:xfrm>
          <a:prstGeom prst="rect">
            <a:avLst/>
          </a:prstGeom>
        </p:spPr>
      </p:pic>
    </p:spTree>
    <p:extLst>
      <p:ext uri="{BB962C8B-B14F-4D97-AF65-F5344CB8AC3E}">
        <p14:creationId xmlns:p14="http://schemas.microsoft.com/office/powerpoint/2010/main" val="1170313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8AD97-D0BD-CAEF-A35E-F6557ECF2A5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BF67E8-680D-ED71-3267-E0006C8664BD}"/>
              </a:ext>
            </a:extLst>
          </p:cNvPr>
          <p:cNvSpPr>
            <a:spLocks noGrp="1"/>
          </p:cNvSpPr>
          <p:nvPr>
            <p:ph type="sldNum" sz="quarter" idx="12"/>
          </p:nvPr>
        </p:nvSpPr>
        <p:spPr/>
        <p:txBody>
          <a:bodyPr/>
          <a:lstStyle/>
          <a:p>
            <a:fld id="{9EA0BE3B-158A-4EDF-80DC-E394A0D1600F}" type="slidenum">
              <a:rPr lang="en-US" smtClean="0"/>
              <a:pPr/>
              <a:t>14</a:t>
            </a:fld>
            <a:endParaRPr lang="en-US" dirty="0"/>
          </a:p>
        </p:txBody>
      </p:sp>
      <p:sp>
        <p:nvSpPr>
          <p:cNvPr id="3" name="Title 2">
            <a:extLst>
              <a:ext uri="{FF2B5EF4-FFF2-40B4-BE49-F238E27FC236}">
                <a16:creationId xmlns:a16="http://schemas.microsoft.com/office/drawing/2014/main" id="{3FF32049-F4F4-B831-710E-947C067B6B7C}"/>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3. Đánh giá &amp; Thực nghiệm</a:t>
            </a:r>
          </a:p>
        </p:txBody>
      </p:sp>
      <p:sp>
        <p:nvSpPr>
          <p:cNvPr id="4" name="Text Placeholder 3">
            <a:extLst>
              <a:ext uri="{FF2B5EF4-FFF2-40B4-BE49-F238E27FC236}">
                <a16:creationId xmlns:a16="http://schemas.microsoft.com/office/drawing/2014/main" id="{8842D761-3060-906B-3E93-966561915899}"/>
              </a:ext>
            </a:extLst>
          </p:cNvPr>
          <p:cNvSpPr>
            <a:spLocks noGrp="1"/>
          </p:cNvSpPr>
          <p:nvPr>
            <p:ph type="body" sz="quarter" idx="13"/>
          </p:nvPr>
        </p:nvSpPr>
        <p:spPr>
          <a:xfrm>
            <a:off x="219217" y="1030147"/>
            <a:ext cx="8674100" cy="5541979"/>
          </a:xfrm>
        </p:spPr>
        <p:txBody>
          <a:bodyPr/>
          <a:lstStyle/>
          <a:p>
            <a:pPr marL="0" indent="0">
              <a:buNone/>
            </a:pPr>
            <a:r>
              <a:rPr lang="en-US" sz="2000" b="1">
                <a:latin typeface="Arial" panose="020B0604020202020204" pitchFamily="34" charset="0"/>
                <a:cs typeface="Arial" panose="020B0604020202020204" pitchFamily="34" charset="0"/>
              </a:rPr>
              <a:t>3.</a:t>
            </a:r>
            <a:r>
              <a:rPr lang="vi-VN" sz="2000" b="1">
                <a:latin typeface="Arial" panose="020B0604020202020204" pitchFamily="34" charset="0"/>
                <a:cs typeface="Arial" panose="020B0604020202020204" pitchFamily="34" charset="0"/>
              </a:rPr>
              <a:t>3</a:t>
            </a:r>
            <a:r>
              <a:rPr lang="en-US" sz="2000" b="1">
                <a:latin typeface="Arial" panose="020B0604020202020204" pitchFamily="34" charset="0"/>
                <a:cs typeface="Arial" panose="020B0604020202020204" pitchFamily="34" charset="0"/>
              </a:rPr>
              <a:t>. </a:t>
            </a:r>
            <a:r>
              <a:rPr lang="vi-VN" sz="2000" b="1">
                <a:latin typeface="Arial" panose="020B0604020202020204" pitchFamily="34" charset="0"/>
                <a:cs typeface="Arial" panose="020B0604020202020204" pitchFamily="34" charset="0"/>
              </a:rPr>
              <a:t>Cấu hình thực nghiệm</a:t>
            </a:r>
            <a:endParaRPr lang="en-US" sz="2000" b="1">
              <a:latin typeface="Arial" panose="020B0604020202020204" pitchFamily="34" charset="0"/>
              <a:cs typeface="Arial" panose="020B0604020202020204" pitchFamily="34" charset="0"/>
            </a:endParaRPr>
          </a:p>
          <a:p>
            <a:r>
              <a:rPr lang="en-US" sz="2000">
                <a:latin typeface="Arial" panose="020B0604020202020204" pitchFamily="34" charset="0"/>
                <a:cs typeface="Arial" panose="020B0604020202020204" pitchFamily="34" charset="0"/>
              </a:rPr>
              <a:t>Nền tảng thực nghiệm: Google Colab</a:t>
            </a:r>
          </a:p>
          <a:p>
            <a:r>
              <a:rPr lang="en-US" sz="2000">
                <a:latin typeface="Arial" panose="020B0604020202020204" pitchFamily="34" charset="0"/>
                <a:cs typeface="Arial" panose="020B0604020202020204" pitchFamily="34" charset="0"/>
              </a:rPr>
              <a:t>Bộ xử lý đồ họa (GPU): </a:t>
            </a:r>
            <a:r>
              <a:rPr lang="vi-VN" sz="2000">
                <a:latin typeface="Arial" panose="020B0604020202020204" pitchFamily="34" charset="0"/>
                <a:cs typeface="Arial" panose="020B0604020202020204" pitchFamily="34" charset="0"/>
              </a:rPr>
              <a:t>T4</a:t>
            </a:r>
          </a:p>
          <a:p>
            <a:r>
              <a:rPr lang="vi-VN" sz="2000">
                <a:latin typeface="Arial" panose="020B0604020202020204" pitchFamily="34" charset="0"/>
                <a:cs typeface="Arial" panose="020B0604020202020204" pitchFamily="34" charset="0"/>
              </a:rPr>
              <a:t>Ngưỡng l</a:t>
            </a:r>
            <a:r>
              <a:rPr lang="en-US" sz="2000">
                <a:latin typeface="Arial" panose="020B0604020202020204" pitchFamily="34" charset="0"/>
                <a:cs typeface="Arial" panose="020B0604020202020204" pitchFamily="34" charset="0"/>
              </a:rPr>
              <a:t>ọc đồ thị </a:t>
            </a:r>
            <a:r>
              <a:rPr lang="vi-VN" sz="2000">
                <a:latin typeface="Arial" panose="020B0604020202020204" pitchFamily="34" charset="0"/>
                <a:cs typeface="Arial" panose="020B0604020202020204" pitchFamily="34" charset="0"/>
              </a:rPr>
              <a:t>PPI: &gt;=</a:t>
            </a:r>
            <a:r>
              <a:rPr lang="en-US" sz="2000">
                <a:latin typeface="Arial" panose="020B0604020202020204" pitchFamily="34" charset="0"/>
                <a:cs typeface="Arial" panose="020B0604020202020204" pitchFamily="34" charset="0"/>
              </a:rPr>
              <a:t>700</a:t>
            </a:r>
          </a:p>
          <a:p>
            <a:r>
              <a:rPr lang="en-US" sz="2000">
                <a:latin typeface="Arial" panose="020B0604020202020204" pitchFamily="34" charset="0"/>
                <a:cs typeface="Arial" panose="020B0604020202020204" pitchFamily="34" charset="0"/>
              </a:rPr>
              <a:t>Random </a:t>
            </a:r>
            <a:r>
              <a:rPr lang="vi-VN" sz="2000">
                <a:latin typeface="Arial" panose="020B0604020202020204" pitchFamily="34" charset="0"/>
                <a:cs typeface="Arial" panose="020B0604020202020204" pitchFamily="34" charset="0"/>
              </a:rPr>
              <a:t>Seed: </a:t>
            </a:r>
            <a:r>
              <a:rPr lang="en-US" sz="2000">
                <a:latin typeface="Arial" panose="020B0604020202020204" pitchFamily="34" charset="0"/>
                <a:cs typeface="Arial" panose="020B0604020202020204" pitchFamily="34" charset="0"/>
              </a:rPr>
              <a:t>24</a:t>
            </a:r>
          </a:p>
          <a:p>
            <a:r>
              <a:rPr lang="vi-VN" sz="2000">
                <a:latin typeface="Arial" panose="020B0604020202020204" pitchFamily="34" charset="0"/>
                <a:cs typeface="Arial" panose="020B0604020202020204" pitchFamily="34" charset="0"/>
              </a:rPr>
              <a:t>B</a:t>
            </a:r>
            <a:r>
              <a:rPr lang="en-US" sz="2000">
                <a:latin typeface="Arial" panose="020B0604020202020204" pitchFamily="34" charset="0"/>
                <a:cs typeface="Arial" panose="020B0604020202020204" pitchFamily="34" charset="0"/>
              </a:rPr>
              <a:t>iến thể </a:t>
            </a:r>
            <a:r>
              <a:rPr lang="vi-VN" sz="2000">
                <a:latin typeface="Arial" panose="020B0604020202020204" pitchFamily="34" charset="0"/>
                <a:cs typeface="Arial" panose="020B0604020202020204" pitchFamily="34" charset="0"/>
              </a:rPr>
              <a:t>ESM-2(</a:t>
            </a:r>
            <a:r>
              <a:rPr lang="en-US" sz="2000">
                <a:latin typeface="Arial" panose="020B0604020202020204" pitchFamily="34" charset="0"/>
                <a:cs typeface="Arial" panose="020B0604020202020204" pitchFamily="34" charset="0"/>
              </a:rPr>
              <a:t>650M_</a:t>
            </a:r>
            <a:r>
              <a:rPr lang="vi-VN" sz="2000">
                <a:latin typeface="Arial" panose="020B0604020202020204" pitchFamily="34" charset="0"/>
                <a:cs typeface="Arial" panose="020B0604020202020204" pitchFamily="34" charset="0"/>
              </a:rPr>
              <a:t>UR50D)</a:t>
            </a:r>
            <a:r>
              <a:rPr lang="en-US" sz="2000">
                <a:latin typeface="Arial" panose="020B0604020202020204" pitchFamily="34" charset="0"/>
                <a:cs typeface="Arial" panose="020B0604020202020204" pitchFamily="34" charset="0"/>
              </a:rPr>
              <a:t> 33 </a:t>
            </a:r>
            <a:r>
              <a:rPr lang="vi-VN" sz="2000">
                <a:latin typeface="Arial" panose="020B0604020202020204" pitchFamily="34" charset="0"/>
                <a:cs typeface="Arial" panose="020B0604020202020204" pitchFamily="34" charset="0"/>
              </a:rPr>
              <a:t>layers</a:t>
            </a:r>
            <a:r>
              <a:rPr lang="en-US" sz="2000">
                <a:latin typeface="Arial" panose="020B0604020202020204" pitchFamily="34" charset="0"/>
                <a:cs typeface="Arial" panose="020B0604020202020204" pitchFamily="34" charset="0"/>
              </a:rPr>
              <a:t>, vector nhúng 1024 chiều).</a:t>
            </a:r>
          </a:p>
          <a:p>
            <a:r>
              <a:rPr lang="en-US" sz="2000">
                <a:latin typeface="Arial" panose="020B0604020202020204" pitchFamily="34" charset="0"/>
                <a:cs typeface="Arial" panose="020B0604020202020204" pitchFamily="34" charset="0"/>
              </a:rPr>
              <a:t>Learning </a:t>
            </a:r>
            <a:r>
              <a:rPr lang="vi-VN" sz="2000">
                <a:latin typeface="Arial" panose="020B0604020202020204" pitchFamily="34" charset="0"/>
                <a:cs typeface="Arial" panose="020B0604020202020204" pitchFamily="34" charset="0"/>
              </a:rPr>
              <a:t>Rate: </a:t>
            </a:r>
            <a:endParaRPr lang="en-US" sz="2000">
              <a:latin typeface="Arial" panose="020B0604020202020204" pitchFamily="34" charset="0"/>
              <a:cs typeface="Arial" panose="020B0604020202020204" pitchFamily="34" charset="0"/>
            </a:endParaRPr>
          </a:p>
          <a:p>
            <a:r>
              <a:rPr lang="en-US" sz="2000">
                <a:latin typeface="Arial" panose="020B0604020202020204" pitchFamily="34" charset="0"/>
                <a:cs typeface="Arial" panose="020B0604020202020204" pitchFamily="34" charset="0"/>
              </a:rPr>
              <a:t>Dropout </a:t>
            </a:r>
            <a:r>
              <a:rPr lang="vi-VN" sz="2000">
                <a:latin typeface="Arial" panose="020B0604020202020204" pitchFamily="34" charset="0"/>
                <a:cs typeface="Arial" panose="020B0604020202020204" pitchFamily="34" charset="0"/>
              </a:rPr>
              <a:t>: </a:t>
            </a:r>
            <a:r>
              <a:rPr lang="en-US" sz="2000">
                <a:latin typeface="Arial" panose="020B0604020202020204" pitchFamily="34" charset="0"/>
                <a:cs typeface="Arial" panose="020B0604020202020204" pitchFamily="34" charset="0"/>
              </a:rPr>
              <a:t>0.1</a:t>
            </a:r>
            <a:endParaRPr lang="vi-VN" sz="2000">
              <a:latin typeface="Arial" panose="020B0604020202020204" pitchFamily="34" charset="0"/>
              <a:cs typeface="Arial" panose="020B0604020202020204" pitchFamily="34" charset="0"/>
            </a:endParaRPr>
          </a:p>
          <a:p>
            <a:r>
              <a:rPr lang="vi-VN" sz="2000">
                <a:latin typeface="Arial" panose="020B0604020202020204" pitchFamily="34" charset="0"/>
                <a:cs typeface="Arial" panose="020B0604020202020204" pitchFamily="34" charset="0"/>
              </a:rPr>
              <a:t>K (hàng xóm): 15 {5,10,15,20}</a:t>
            </a:r>
          </a:p>
          <a:p>
            <a:r>
              <a:rPr lang="vi-VN" sz="2000">
                <a:latin typeface="Arial" panose="020B0604020202020204" pitchFamily="34" charset="0"/>
                <a:cs typeface="Arial" panose="020B0604020202020204" pitchFamily="34" charset="0"/>
              </a:rPr>
              <a:t>Số lần lặp T: 20 {10,20,30,50}</a:t>
            </a:r>
          </a:p>
          <a:p>
            <a:r>
              <a:rPr lang="en-US" sz="2000">
                <a:latin typeface="Arial" panose="020B0604020202020204" pitchFamily="34" charset="0"/>
                <a:cs typeface="Arial" panose="020B0604020202020204" pitchFamily="34" charset="0"/>
              </a:rPr>
              <a:t>Tham số Node2Vec: Dimensions = </a:t>
            </a:r>
            <a:r>
              <a:rPr lang="vi-VN" sz="2000">
                <a:latin typeface="Arial" panose="020B0604020202020204" pitchFamily="34" charset="0"/>
                <a:cs typeface="Arial" panose="020B0604020202020204" pitchFamily="34" charset="0"/>
              </a:rPr>
              <a:t>128</a:t>
            </a:r>
            <a:r>
              <a:rPr lang="en-US" sz="2000">
                <a:latin typeface="Arial" panose="020B0604020202020204" pitchFamily="34" charset="0"/>
                <a:cs typeface="Arial" panose="020B0604020202020204" pitchFamily="34" charset="0"/>
              </a:rPr>
              <a:t>, Walk length = 30, Num walks = 10, P = 0.8, Q = 1.2.</a:t>
            </a:r>
          </a:p>
          <a:p>
            <a:pPr marL="0" indent="0">
              <a:buNone/>
            </a:pPr>
            <a:endParaRPr lang="en-US" sz="2000">
              <a:latin typeface="Arial" panose="020B0604020202020204" pitchFamily="34" charset="0"/>
              <a:cs typeface="Arial" panose="020B0604020202020204" pitchFamily="34" charset="0"/>
            </a:endParaRPr>
          </a:p>
          <a:p>
            <a:pPr marL="0" indent="0">
              <a:buNone/>
            </a:pPr>
            <a:endParaRPr lang="en-US" sz="2000" b="1">
              <a:latin typeface="Arial" panose="020B0604020202020204" pitchFamily="34" charset="0"/>
              <a:cs typeface="Arial" panose="020B0604020202020204" pitchFamily="34" charset="0"/>
            </a:endParaRPr>
          </a:p>
          <a:p>
            <a:endParaRPr lang="en-US" sz="2000" b="1">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0124A7D9-8548-168B-A7B7-219860FE6B19}"/>
              </a:ext>
            </a:extLst>
          </p:cNvPr>
          <p:cNvPicPr>
            <a:picLocks noChangeAspect="1"/>
          </p:cNvPicPr>
          <p:nvPr/>
        </p:nvPicPr>
        <p:blipFill>
          <a:blip r:embed="rId2"/>
          <a:stretch>
            <a:fillRect/>
          </a:stretch>
        </p:blipFill>
        <p:spPr>
          <a:xfrm>
            <a:off x="2251114" y="3393567"/>
            <a:ext cx="590632" cy="390580"/>
          </a:xfrm>
          <a:prstGeom prst="rect">
            <a:avLst/>
          </a:prstGeom>
        </p:spPr>
      </p:pic>
    </p:spTree>
    <p:extLst>
      <p:ext uri="{BB962C8B-B14F-4D97-AF65-F5344CB8AC3E}">
        <p14:creationId xmlns:p14="http://schemas.microsoft.com/office/powerpoint/2010/main" val="419405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319D5-589E-3DB8-9A49-372C9B323D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C260F4-1889-3199-E2A2-310DFE548508}"/>
              </a:ext>
            </a:extLst>
          </p:cNvPr>
          <p:cNvSpPr>
            <a:spLocks noGrp="1"/>
          </p:cNvSpPr>
          <p:nvPr>
            <p:ph type="sldNum" sz="quarter" idx="12"/>
          </p:nvPr>
        </p:nvSpPr>
        <p:spPr/>
        <p:txBody>
          <a:bodyPr/>
          <a:lstStyle/>
          <a:p>
            <a:fld id="{9EA0BE3B-158A-4EDF-80DC-E394A0D1600F}" type="slidenum">
              <a:rPr lang="en-US" smtClean="0"/>
              <a:pPr/>
              <a:t>15</a:t>
            </a:fld>
            <a:endParaRPr lang="en-US" dirty="0"/>
          </a:p>
        </p:txBody>
      </p:sp>
      <p:sp>
        <p:nvSpPr>
          <p:cNvPr id="3" name="Title 2">
            <a:extLst>
              <a:ext uri="{FF2B5EF4-FFF2-40B4-BE49-F238E27FC236}">
                <a16:creationId xmlns:a16="http://schemas.microsoft.com/office/drawing/2014/main" id="{84589070-FD27-8009-1D67-EEAC5735FE4E}"/>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3. Đánh giá &amp; Thực nghiệm</a:t>
            </a:r>
          </a:p>
        </p:txBody>
      </p:sp>
      <p:sp>
        <p:nvSpPr>
          <p:cNvPr id="4" name="Text Placeholder 3">
            <a:extLst>
              <a:ext uri="{FF2B5EF4-FFF2-40B4-BE49-F238E27FC236}">
                <a16:creationId xmlns:a16="http://schemas.microsoft.com/office/drawing/2014/main" id="{6CD58096-FB77-7719-C91F-7A0F07066615}"/>
              </a:ext>
            </a:extLst>
          </p:cNvPr>
          <p:cNvSpPr>
            <a:spLocks noGrp="1"/>
          </p:cNvSpPr>
          <p:nvPr>
            <p:ph type="body" sz="quarter" idx="13"/>
          </p:nvPr>
        </p:nvSpPr>
        <p:spPr>
          <a:xfrm>
            <a:off x="219217" y="1064871"/>
            <a:ext cx="8674100" cy="5507255"/>
          </a:xfrm>
        </p:spPr>
        <p:txBody>
          <a:bodyPr/>
          <a:lstStyle/>
          <a:p>
            <a:pPr marL="0" indent="0" algn="just">
              <a:buNone/>
            </a:pPr>
            <a:r>
              <a:rPr lang="en-US" sz="2000" b="1">
                <a:latin typeface="Arial" panose="020B0604020202020204" pitchFamily="34" charset="0"/>
                <a:cs typeface="Arial" panose="020B0604020202020204" pitchFamily="34" charset="0"/>
              </a:rPr>
              <a:t>3.</a:t>
            </a:r>
            <a:r>
              <a:rPr lang="vi-VN" sz="2000" b="1">
                <a:latin typeface="Arial" panose="020B0604020202020204" pitchFamily="34" charset="0"/>
                <a:cs typeface="Arial" panose="020B0604020202020204" pitchFamily="34" charset="0"/>
              </a:rPr>
              <a:t>4</a:t>
            </a:r>
            <a:r>
              <a:rPr lang="en-US" sz="2000" b="1">
                <a:latin typeface="Arial" panose="020B0604020202020204" pitchFamily="34" charset="0"/>
                <a:cs typeface="Arial" panose="020B0604020202020204" pitchFamily="34" charset="0"/>
              </a:rPr>
              <a:t>. Các phương pháp so sánh</a:t>
            </a:r>
            <a:endParaRPr lang="vi-VN" sz="2000">
              <a:latin typeface="Arial" panose="020B0604020202020204" pitchFamily="34" charset="0"/>
              <a:cs typeface="Arial" panose="020B0604020202020204" pitchFamily="34" charset="0"/>
            </a:endParaRPr>
          </a:p>
          <a:p>
            <a:pPr algn="just"/>
            <a:endParaRPr lang="en-US">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6F50CF37-12D6-AE06-6E61-071760437F26}"/>
              </a:ext>
            </a:extLst>
          </p:cNvPr>
          <p:cNvPicPr>
            <a:picLocks noChangeAspect="1"/>
          </p:cNvPicPr>
          <p:nvPr/>
        </p:nvPicPr>
        <p:blipFill>
          <a:blip r:embed="rId2"/>
          <a:stretch>
            <a:fillRect/>
          </a:stretch>
        </p:blipFill>
        <p:spPr>
          <a:xfrm>
            <a:off x="604357" y="1651540"/>
            <a:ext cx="7935286" cy="4141589"/>
          </a:xfrm>
          <a:prstGeom prst="rect">
            <a:avLst/>
          </a:prstGeom>
        </p:spPr>
      </p:pic>
    </p:spTree>
    <p:extLst>
      <p:ext uri="{BB962C8B-B14F-4D97-AF65-F5344CB8AC3E}">
        <p14:creationId xmlns:p14="http://schemas.microsoft.com/office/powerpoint/2010/main" val="22961949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6AC42-5898-34D5-923C-806DAD98173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725207-2B12-3637-AC59-A82C6F89CFF6}"/>
              </a:ext>
            </a:extLst>
          </p:cNvPr>
          <p:cNvSpPr>
            <a:spLocks noGrp="1"/>
          </p:cNvSpPr>
          <p:nvPr>
            <p:ph type="sldNum" sz="quarter" idx="12"/>
          </p:nvPr>
        </p:nvSpPr>
        <p:spPr/>
        <p:txBody>
          <a:bodyPr/>
          <a:lstStyle/>
          <a:p>
            <a:fld id="{9EA0BE3B-158A-4EDF-80DC-E394A0D1600F}" type="slidenum">
              <a:rPr lang="en-US" smtClean="0"/>
              <a:pPr/>
              <a:t>16</a:t>
            </a:fld>
            <a:endParaRPr lang="en-US" dirty="0"/>
          </a:p>
        </p:txBody>
      </p:sp>
      <p:sp>
        <p:nvSpPr>
          <p:cNvPr id="3" name="Title 2">
            <a:extLst>
              <a:ext uri="{FF2B5EF4-FFF2-40B4-BE49-F238E27FC236}">
                <a16:creationId xmlns:a16="http://schemas.microsoft.com/office/drawing/2014/main" id="{049FF39C-0E13-6051-466A-B640B2345C0A}"/>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3. Đánh giá &amp; Thực nghiệm</a:t>
            </a:r>
          </a:p>
        </p:txBody>
      </p:sp>
      <p:sp>
        <p:nvSpPr>
          <p:cNvPr id="4" name="Text Placeholder 3">
            <a:extLst>
              <a:ext uri="{FF2B5EF4-FFF2-40B4-BE49-F238E27FC236}">
                <a16:creationId xmlns:a16="http://schemas.microsoft.com/office/drawing/2014/main" id="{8EE7D684-5458-E88C-D802-50A3927FBFA2}"/>
              </a:ext>
            </a:extLst>
          </p:cNvPr>
          <p:cNvSpPr>
            <a:spLocks noGrp="1"/>
          </p:cNvSpPr>
          <p:nvPr>
            <p:ph type="body" sz="quarter" idx="13"/>
          </p:nvPr>
        </p:nvSpPr>
        <p:spPr>
          <a:xfrm>
            <a:off x="219217" y="891251"/>
            <a:ext cx="8674100" cy="5680875"/>
          </a:xfrm>
        </p:spPr>
        <p:txBody>
          <a:bodyPr/>
          <a:lstStyle/>
          <a:p>
            <a:pPr marL="0" indent="0" algn="just">
              <a:buNone/>
            </a:pPr>
            <a:r>
              <a:rPr lang="en-US" sz="2000" b="1">
                <a:latin typeface="Arial" panose="020B0604020202020204" pitchFamily="34" charset="0"/>
                <a:cs typeface="Arial" panose="020B0604020202020204" pitchFamily="34" charset="0"/>
              </a:rPr>
              <a:t>3.</a:t>
            </a:r>
            <a:r>
              <a:rPr lang="vi-VN" sz="2000" b="1">
                <a:latin typeface="Arial" panose="020B0604020202020204" pitchFamily="34" charset="0"/>
                <a:cs typeface="Arial" panose="020B0604020202020204" pitchFamily="34" charset="0"/>
              </a:rPr>
              <a:t>5</a:t>
            </a:r>
            <a:r>
              <a:rPr lang="en-US" sz="2000" b="1">
                <a:latin typeface="Arial" panose="020B0604020202020204" pitchFamily="34" charset="0"/>
                <a:cs typeface="Arial" panose="020B0604020202020204" pitchFamily="34" charset="0"/>
              </a:rPr>
              <a:t>. Thử nghiệm loại trừ thành phần </a:t>
            </a:r>
          </a:p>
          <a:p>
            <a:pPr marL="0" indent="0" algn="just">
              <a:buNone/>
            </a:pPr>
            <a:endParaRPr lang="en-US" sz="2000" b="1">
              <a:latin typeface="Arial" panose="020B0604020202020204" pitchFamily="34" charset="0"/>
              <a:cs typeface="Arial" panose="020B0604020202020204" pitchFamily="34" charset="0"/>
            </a:endParaRPr>
          </a:p>
          <a:p>
            <a:pPr algn="just"/>
            <a:endParaRPr lang="en-US" sz="2000" b="1">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0FE788F4-E75E-DE47-85FF-BC08CEDF387B}"/>
              </a:ext>
            </a:extLst>
          </p:cNvPr>
          <p:cNvPicPr>
            <a:picLocks noChangeAspect="1"/>
          </p:cNvPicPr>
          <p:nvPr/>
        </p:nvPicPr>
        <p:blipFill>
          <a:blip r:embed="rId2"/>
          <a:stretch>
            <a:fillRect/>
          </a:stretch>
        </p:blipFill>
        <p:spPr>
          <a:xfrm>
            <a:off x="1108953" y="1449158"/>
            <a:ext cx="7146828" cy="4085880"/>
          </a:xfrm>
          <a:prstGeom prst="rect">
            <a:avLst/>
          </a:prstGeom>
        </p:spPr>
      </p:pic>
    </p:spTree>
    <p:extLst>
      <p:ext uri="{BB962C8B-B14F-4D97-AF65-F5344CB8AC3E}">
        <p14:creationId xmlns:p14="http://schemas.microsoft.com/office/powerpoint/2010/main" val="3192620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B5A61-E849-EBCA-39E4-3D0AD8A3175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40388F-AD8C-22C9-EA28-09735A404467}"/>
              </a:ext>
            </a:extLst>
          </p:cNvPr>
          <p:cNvSpPr>
            <a:spLocks noGrp="1"/>
          </p:cNvSpPr>
          <p:nvPr>
            <p:ph type="sldNum" sz="quarter" idx="12"/>
          </p:nvPr>
        </p:nvSpPr>
        <p:spPr/>
        <p:txBody>
          <a:bodyPr/>
          <a:lstStyle/>
          <a:p>
            <a:fld id="{9EA0BE3B-158A-4EDF-80DC-E394A0D1600F}" type="slidenum">
              <a:rPr lang="en-US" smtClean="0"/>
              <a:pPr/>
              <a:t>17</a:t>
            </a:fld>
            <a:endParaRPr lang="en-US" dirty="0"/>
          </a:p>
        </p:txBody>
      </p:sp>
      <p:sp>
        <p:nvSpPr>
          <p:cNvPr id="3" name="Title 2">
            <a:extLst>
              <a:ext uri="{FF2B5EF4-FFF2-40B4-BE49-F238E27FC236}">
                <a16:creationId xmlns:a16="http://schemas.microsoft.com/office/drawing/2014/main" id="{073CF018-13B0-00B7-DFF1-7F95277305F7}"/>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3. Đánh giá &amp; Thực nghiệm</a:t>
            </a:r>
          </a:p>
        </p:txBody>
      </p:sp>
      <p:sp>
        <p:nvSpPr>
          <p:cNvPr id="4" name="Text Placeholder 3">
            <a:extLst>
              <a:ext uri="{FF2B5EF4-FFF2-40B4-BE49-F238E27FC236}">
                <a16:creationId xmlns:a16="http://schemas.microsoft.com/office/drawing/2014/main" id="{D38AAB0C-AE31-E949-33C7-D74FB62C26E3}"/>
              </a:ext>
            </a:extLst>
          </p:cNvPr>
          <p:cNvSpPr>
            <a:spLocks noGrp="1"/>
          </p:cNvSpPr>
          <p:nvPr>
            <p:ph type="body" sz="quarter" idx="13"/>
          </p:nvPr>
        </p:nvSpPr>
        <p:spPr>
          <a:xfrm>
            <a:off x="219217" y="1030147"/>
            <a:ext cx="8674100" cy="5541979"/>
          </a:xfrm>
        </p:spPr>
        <p:txBody>
          <a:bodyPr/>
          <a:lstStyle/>
          <a:p>
            <a:pPr marL="0" indent="0" algn="just">
              <a:buNone/>
            </a:pPr>
            <a:r>
              <a:rPr lang="en-US" sz="2000" b="1">
                <a:latin typeface="Arial" panose="020B0604020202020204" pitchFamily="34" charset="0"/>
                <a:cs typeface="Arial" panose="020B0604020202020204" pitchFamily="34" charset="0"/>
              </a:rPr>
              <a:t>3.</a:t>
            </a:r>
            <a:r>
              <a:rPr lang="vi-VN" sz="2000" b="1">
                <a:latin typeface="Arial" panose="020B0604020202020204" pitchFamily="34" charset="0"/>
                <a:cs typeface="Arial" panose="020B0604020202020204" pitchFamily="34" charset="0"/>
              </a:rPr>
              <a:t>5</a:t>
            </a:r>
            <a:r>
              <a:rPr lang="en-US" sz="2000" b="1">
                <a:latin typeface="Arial" panose="020B0604020202020204" pitchFamily="34" charset="0"/>
                <a:cs typeface="Arial" panose="020B0604020202020204" pitchFamily="34" charset="0"/>
              </a:rPr>
              <a:t>. Thử nghiệm loại trừ thành phần </a:t>
            </a:r>
          </a:p>
          <a:p>
            <a:pPr marL="0" indent="0" algn="just">
              <a:buNone/>
            </a:pPr>
            <a:endParaRPr lang="en-US" sz="2000" b="1">
              <a:latin typeface="Arial" panose="020B0604020202020204" pitchFamily="34" charset="0"/>
              <a:cs typeface="Arial" panose="020B0604020202020204" pitchFamily="34" charset="0"/>
            </a:endParaRPr>
          </a:p>
          <a:p>
            <a:pPr algn="just"/>
            <a:endParaRPr lang="en-US" sz="2000" b="1">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CC4B9BD-930F-00D5-4FCD-4D795FCFDF15}"/>
              </a:ext>
            </a:extLst>
          </p:cNvPr>
          <p:cNvPicPr>
            <a:picLocks noChangeAspect="1"/>
          </p:cNvPicPr>
          <p:nvPr/>
        </p:nvPicPr>
        <p:blipFill>
          <a:blip r:embed="rId2"/>
          <a:stretch>
            <a:fillRect/>
          </a:stretch>
        </p:blipFill>
        <p:spPr>
          <a:xfrm>
            <a:off x="289183" y="1824009"/>
            <a:ext cx="8565634" cy="2797530"/>
          </a:xfrm>
          <a:prstGeom prst="rect">
            <a:avLst/>
          </a:prstGeom>
        </p:spPr>
      </p:pic>
    </p:spTree>
    <p:extLst>
      <p:ext uri="{BB962C8B-B14F-4D97-AF65-F5344CB8AC3E}">
        <p14:creationId xmlns:p14="http://schemas.microsoft.com/office/powerpoint/2010/main" val="717712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40899-25A7-F8FE-92AC-43239D3347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B45FE-63E5-1D7A-8EE4-18C6E6AC1431}"/>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4. Kết luận và Hướng phát triển</a:t>
            </a:r>
          </a:p>
        </p:txBody>
      </p:sp>
      <p:sp>
        <p:nvSpPr>
          <p:cNvPr id="5" name="Slide Number Placeholder 4">
            <a:extLst>
              <a:ext uri="{FF2B5EF4-FFF2-40B4-BE49-F238E27FC236}">
                <a16:creationId xmlns:a16="http://schemas.microsoft.com/office/drawing/2014/main" id="{D8D7E683-1A24-F490-6A08-1797D8F08749}"/>
              </a:ext>
            </a:extLst>
          </p:cNvPr>
          <p:cNvSpPr>
            <a:spLocks noGrp="1"/>
          </p:cNvSpPr>
          <p:nvPr>
            <p:ph type="sldNum" sz="quarter" idx="12"/>
          </p:nvPr>
        </p:nvSpPr>
        <p:spPr/>
        <p:txBody>
          <a:bodyPr/>
          <a:lstStyle/>
          <a:p>
            <a:fld id="{9EA0BE3B-158A-4EDF-80DC-E394A0D1600F}" type="slidenum">
              <a:rPr lang="en-US" smtClean="0"/>
              <a:pPr/>
              <a:t>18</a:t>
            </a:fld>
            <a:endParaRPr lang="en-US" dirty="0"/>
          </a:p>
        </p:txBody>
      </p:sp>
      <p:sp>
        <p:nvSpPr>
          <p:cNvPr id="3" name="TextBox 2">
            <a:extLst>
              <a:ext uri="{FF2B5EF4-FFF2-40B4-BE49-F238E27FC236}">
                <a16:creationId xmlns:a16="http://schemas.microsoft.com/office/drawing/2014/main" id="{BAD9A02C-C663-C198-ACA0-41828C9BC3E1}"/>
              </a:ext>
            </a:extLst>
          </p:cNvPr>
          <p:cNvSpPr txBox="1"/>
          <p:nvPr/>
        </p:nvSpPr>
        <p:spPr>
          <a:xfrm>
            <a:off x="235077" y="975360"/>
            <a:ext cx="8821374" cy="4401205"/>
          </a:xfrm>
          <a:prstGeom prst="rect">
            <a:avLst/>
          </a:prstGeom>
          <a:noFill/>
        </p:spPr>
        <p:txBody>
          <a:bodyPr wrap="square" rtlCol="0">
            <a:spAutoFit/>
          </a:bodyPr>
          <a:lstStyle/>
          <a:p>
            <a:r>
              <a:rPr lang="en-US" sz="2000" b="1">
                <a:latin typeface="Arial" panose="020B0604020202020204" pitchFamily="34" charset="0"/>
                <a:cs typeface="Arial" panose="020B0604020202020204" pitchFamily="34" charset="0"/>
              </a:rPr>
              <a:t>4.1. Kết luận:</a:t>
            </a:r>
          </a:p>
          <a:p>
            <a:endParaRPr lang="en-US" sz="2000" b="1">
              <a:latin typeface="Arial" panose="020B0604020202020204" pitchFamily="34" charset="0"/>
              <a:cs typeface="Arial" panose="020B0604020202020204" pitchFamily="34" charset="0"/>
            </a:endParaRPr>
          </a:p>
          <a:p>
            <a:pPr algn="just"/>
            <a:r>
              <a:rPr lang="en-US" sz="2000">
                <a:latin typeface="Arial" panose="020B0604020202020204" pitchFamily="34" charset="0"/>
                <a:cs typeface="Arial" panose="020B0604020202020204" pitchFamily="34" charset="0"/>
              </a:rPr>
              <a:t>Các đóng góp và thành quả đạt được:</a:t>
            </a:r>
          </a:p>
          <a:p>
            <a:pPr algn="just"/>
            <a:endParaRPr lang="en-US" sz="200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US" sz="2000">
                <a:latin typeface="Arial" panose="020B0604020202020204" pitchFamily="34" charset="0"/>
                <a:cs typeface="Arial" panose="020B0604020202020204" pitchFamily="34" charset="0"/>
              </a:rPr>
              <a:t>Xây dựng thành công kiến trúc S2G-PPI-Attn: Tích hợp toàn diện 3 phương thức: Cấu trúc 3D, Trình tự, và Mạng tương </a:t>
            </a:r>
            <a:r>
              <a:rPr lang="vi-VN" sz="2000">
                <a:latin typeface="Arial" panose="020B0604020202020204" pitchFamily="34" charset="0"/>
                <a:cs typeface="Arial" panose="020B0604020202020204" pitchFamily="34" charset="0"/>
              </a:rPr>
              <a:t>tác</a:t>
            </a:r>
            <a:r>
              <a:rPr lang="en-US" sz="2000">
                <a:latin typeface="Arial" panose="020B0604020202020204" pitchFamily="34" charset="0"/>
                <a:cs typeface="Arial" panose="020B0604020202020204" pitchFamily="34" charset="0"/>
              </a:rPr>
              <a:t>.</a:t>
            </a:r>
            <a:endParaRPr lang="vi-VN" sz="200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endParaRPr lang="en-US" sz="200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US" sz="2000">
                <a:latin typeface="Arial" panose="020B0604020202020204" pitchFamily="34" charset="0"/>
                <a:cs typeface="Arial" panose="020B0604020202020204" pitchFamily="34" charset="0"/>
              </a:rPr>
              <a:t>Đột phá với Cross-Attention: Đề xuất cơ chế chú ý chéo có hướng, lấy đặc trưng cấu trúc/trình tự làm truy vấn để chủ động chắt lọc thông tin hữu ích từ mạng PPI thay vì ghép nối tuyến tính.</a:t>
            </a:r>
            <a:endParaRPr lang="vi-VN" sz="200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endParaRPr lang="en-US" sz="200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US" sz="2000">
                <a:latin typeface="Arial" panose="020B0604020202020204" pitchFamily="34" charset="0"/>
                <a:cs typeface="Arial" panose="020B0604020202020204" pitchFamily="34" charset="0"/>
              </a:rPr>
              <a:t>Hiệu năng thực nghiệm vượt trội: Cải thiện rõ rệt so với các phương pháp cơ sở</a:t>
            </a:r>
            <a:endParaRPr lang="en-US" sz="2000" b="1">
              <a:latin typeface="Arial" panose="020B0604020202020204" pitchFamily="34" charset="0"/>
              <a:cs typeface="Arial" panose="020B0604020202020204" pitchFamily="34" charset="0"/>
            </a:endParaRPr>
          </a:p>
          <a:p>
            <a:endParaRPr lang="en-US" sz="2000"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794059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D8202-F698-699F-6663-676F0EBE9F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4679D2-B05F-56A1-010B-E9935FB96EEE}"/>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4. Kết luận và Hướng phát triển</a:t>
            </a:r>
          </a:p>
        </p:txBody>
      </p:sp>
      <p:sp>
        <p:nvSpPr>
          <p:cNvPr id="5" name="Slide Number Placeholder 4">
            <a:extLst>
              <a:ext uri="{FF2B5EF4-FFF2-40B4-BE49-F238E27FC236}">
                <a16:creationId xmlns:a16="http://schemas.microsoft.com/office/drawing/2014/main" id="{FEB37C23-AB6A-212E-E2B6-BA8D1529C626}"/>
              </a:ext>
            </a:extLst>
          </p:cNvPr>
          <p:cNvSpPr>
            <a:spLocks noGrp="1"/>
          </p:cNvSpPr>
          <p:nvPr>
            <p:ph type="sldNum" sz="quarter" idx="12"/>
          </p:nvPr>
        </p:nvSpPr>
        <p:spPr/>
        <p:txBody>
          <a:bodyPr/>
          <a:lstStyle/>
          <a:p>
            <a:fld id="{9EA0BE3B-158A-4EDF-80DC-E394A0D1600F}" type="slidenum">
              <a:rPr lang="en-US" smtClean="0"/>
              <a:pPr/>
              <a:t>19</a:t>
            </a:fld>
            <a:endParaRPr lang="en-US" dirty="0"/>
          </a:p>
        </p:txBody>
      </p:sp>
      <p:sp>
        <p:nvSpPr>
          <p:cNvPr id="3" name="TextBox 2">
            <a:extLst>
              <a:ext uri="{FF2B5EF4-FFF2-40B4-BE49-F238E27FC236}">
                <a16:creationId xmlns:a16="http://schemas.microsoft.com/office/drawing/2014/main" id="{A2A6BF1B-F4BA-651F-6E4B-3040F912F0DD}"/>
              </a:ext>
            </a:extLst>
          </p:cNvPr>
          <p:cNvSpPr txBox="1"/>
          <p:nvPr/>
        </p:nvSpPr>
        <p:spPr>
          <a:xfrm>
            <a:off x="235077" y="975360"/>
            <a:ext cx="8821374" cy="3785652"/>
          </a:xfrm>
          <a:prstGeom prst="rect">
            <a:avLst/>
          </a:prstGeom>
          <a:noFill/>
        </p:spPr>
        <p:txBody>
          <a:bodyPr wrap="square" rtlCol="0">
            <a:spAutoFit/>
          </a:bodyPr>
          <a:lstStyle/>
          <a:p>
            <a:r>
              <a:rPr lang="en-US" sz="2000" b="1">
                <a:latin typeface="Arial" panose="020B0604020202020204" pitchFamily="34" charset="0"/>
                <a:cs typeface="Arial" panose="020B0604020202020204" pitchFamily="34" charset="0"/>
              </a:rPr>
              <a:t>4.1. Kết luận:</a:t>
            </a:r>
          </a:p>
          <a:p>
            <a:endParaRPr lang="en-US" sz="2000" b="1">
              <a:latin typeface="Arial" panose="020B0604020202020204" pitchFamily="34" charset="0"/>
              <a:cs typeface="Arial" panose="020B0604020202020204" pitchFamily="34" charset="0"/>
            </a:endParaRPr>
          </a:p>
          <a:p>
            <a:pPr algn="just"/>
            <a:r>
              <a:rPr lang="en-US" sz="2000">
                <a:latin typeface="Arial" panose="020B0604020202020204" pitchFamily="34" charset="0"/>
                <a:cs typeface="Arial" panose="020B0604020202020204" pitchFamily="34" charset="0"/>
              </a:rPr>
              <a:t>Một số hạn chế còn tồn tại:</a:t>
            </a:r>
          </a:p>
          <a:p>
            <a:pPr algn="just"/>
            <a:endParaRPr lang="en-US" sz="200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US" sz="2000">
                <a:latin typeface="Arial" panose="020B0604020202020204" pitchFamily="34" charset="0"/>
                <a:cs typeface="Arial" panose="020B0604020202020204" pitchFamily="34" charset="0"/>
              </a:rPr>
              <a:t>Vẫn phụ thuộc vào tính đầy đủ của dữ liệu mạng PPI.</a:t>
            </a:r>
            <a:endParaRPr lang="vi-VN" sz="200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endParaRPr lang="en-US" sz="200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US" sz="2000">
                <a:latin typeface="Arial" panose="020B0604020202020204" pitchFamily="34" charset="0"/>
                <a:cs typeface="Arial" panose="020B0604020202020204" pitchFamily="34" charset="0"/>
              </a:rPr>
              <a:t>Quy tắc đường dẫn đúng (True-path rule) mới chỉ áp dụng ở bước hậu xử lý, chưa nhúng trực tiếp vào quá trình huấn luyện.</a:t>
            </a:r>
            <a:endParaRPr lang="vi-VN" sz="200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endParaRPr lang="en-US" sz="2000">
              <a:latin typeface="Arial" panose="020B0604020202020204" pitchFamily="34" charset="0"/>
              <a:cs typeface="Arial" panose="020B0604020202020204" pitchFamily="34" charset="0"/>
            </a:endParaRPr>
          </a:p>
          <a:p>
            <a:endParaRPr lang="en-US" sz="2000" b="1">
              <a:latin typeface="Arial" panose="020B0604020202020204" pitchFamily="34" charset="0"/>
              <a:cs typeface="Arial" panose="020B0604020202020204" pitchFamily="34" charset="0"/>
            </a:endParaRPr>
          </a:p>
          <a:p>
            <a:endParaRPr lang="en-US" sz="2000" b="1">
              <a:latin typeface="Arial" panose="020B0604020202020204" pitchFamily="34" charset="0"/>
              <a:cs typeface="Arial" panose="020B0604020202020204" pitchFamily="34" charset="0"/>
            </a:endParaRPr>
          </a:p>
          <a:p>
            <a:endParaRPr lang="en-US" sz="2000"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91119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EEA5C-5D4B-024C-1841-47955D5E87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8A2F0D-290F-A095-3C45-73EA30BF57F2}"/>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4. Kết luận và Hướng phát triển</a:t>
            </a:r>
          </a:p>
        </p:txBody>
      </p:sp>
      <p:sp>
        <p:nvSpPr>
          <p:cNvPr id="5" name="Slide Number Placeholder 4">
            <a:extLst>
              <a:ext uri="{FF2B5EF4-FFF2-40B4-BE49-F238E27FC236}">
                <a16:creationId xmlns:a16="http://schemas.microsoft.com/office/drawing/2014/main" id="{A6A269DA-D7AC-220D-AFC5-7210E7885EFC}"/>
              </a:ext>
            </a:extLst>
          </p:cNvPr>
          <p:cNvSpPr>
            <a:spLocks noGrp="1"/>
          </p:cNvSpPr>
          <p:nvPr>
            <p:ph type="sldNum" sz="quarter" idx="12"/>
          </p:nvPr>
        </p:nvSpPr>
        <p:spPr/>
        <p:txBody>
          <a:bodyPr/>
          <a:lstStyle/>
          <a:p>
            <a:fld id="{9EA0BE3B-158A-4EDF-80DC-E394A0D1600F}" type="slidenum">
              <a:rPr lang="en-US" smtClean="0"/>
              <a:pPr/>
              <a:t>20</a:t>
            </a:fld>
            <a:endParaRPr lang="en-US" dirty="0"/>
          </a:p>
        </p:txBody>
      </p:sp>
      <p:sp>
        <p:nvSpPr>
          <p:cNvPr id="3" name="TextBox 2">
            <a:extLst>
              <a:ext uri="{FF2B5EF4-FFF2-40B4-BE49-F238E27FC236}">
                <a16:creationId xmlns:a16="http://schemas.microsoft.com/office/drawing/2014/main" id="{700DDC46-D586-3437-B4B3-E2D8189C3C2D}"/>
              </a:ext>
            </a:extLst>
          </p:cNvPr>
          <p:cNvSpPr txBox="1"/>
          <p:nvPr/>
        </p:nvSpPr>
        <p:spPr>
          <a:xfrm>
            <a:off x="235077" y="975360"/>
            <a:ext cx="8821374" cy="3477875"/>
          </a:xfrm>
          <a:prstGeom prst="rect">
            <a:avLst/>
          </a:prstGeom>
          <a:noFill/>
        </p:spPr>
        <p:txBody>
          <a:bodyPr wrap="square" rtlCol="0">
            <a:spAutoFit/>
          </a:bodyPr>
          <a:lstStyle/>
          <a:p>
            <a:r>
              <a:rPr lang="en-US" sz="2000" b="1">
                <a:latin typeface="Arial" panose="020B0604020202020204" pitchFamily="34" charset="0"/>
                <a:cs typeface="Arial" panose="020B0604020202020204" pitchFamily="34" charset="0"/>
              </a:rPr>
              <a:t>4.2. Hướng phát triển:</a:t>
            </a:r>
          </a:p>
          <a:p>
            <a:endParaRPr lang="en-US" sz="2000" b="1">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US" sz="2000">
                <a:latin typeface="Arial" panose="020B0604020202020204" pitchFamily="34" charset="0"/>
                <a:cs typeface="Arial" panose="020B0604020202020204" pitchFamily="34" charset="0"/>
              </a:rPr>
              <a:t>Khai thác mạng tương tác động: Tích hợp mạng PPI đặc thù theo từng loại mô (tissue-specific) hoặc điều kiện sinh </a:t>
            </a:r>
            <a:r>
              <a:rPr lang="vi-VN" sz="2000">
                <a:latin typeface="Arial" panose="020B0604020202020204" pitchFamily="34" charset="0"/>
                <a:cs typeface="Arial" panose="020B0604020202020204" pitchFamily="34" charset="0"/>
              </a:rPr>
              <a:t>lý.</a:t>
            </a:r>
          </a:p>
          <a:p>
            <a:pPr marL="342900" indent="-342900" algn="just">
              <a:buFont typeface="Arial" panose="020B0604020202020204" pitchFamily="34" charset="0"/>
              <a:buChar char="•"/>
            </a:pPr>
            <a:endParaRPr lang="en-US" sz="200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US" sz="2000">
                <a:latin typeface="Arial" panose="020B0604020202020204" pitchFamily="34" charset="0"/>
                <a:cs typeface="Arial" panose="020B0604020202020204" pitchFamily="34" charset="0"/>
              </a:rPr>
              <a:t>Tăng cường tính diễn giải: Trực quan hóa ma trận trọng số chú ý để chỉ ra chính xác các gốc axit amin hoặc protein láng giềng nào quyết định đến kết quả dự đoán, hỗ trợ kiểm chứng giả thuyết sinh học.</a:t>
            </a:r>
            <a:endParaRPr lang="vi-VN" sz="200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endParaRPr lang="en-US" sz="2000">
              <a:latin typeface="Arial" panose="020B0604020202020204" pitchFamily="34" charset="0"/>
              <a:cs typeface="Arial" panose="020B0604020202020204" pitchFamily="34" charset="0"/>
            </a:endParaRPr>
          </a:p>
          <a:p>
            <a:endParaRPr lang="en-US" sz="2000" b="1">
              <a:latin typeface="Arial" panose="020B0604020202020204" pitchFamily="34" charset="0"/>
              <a:cs typeface="Arial" panose="020B0604020202020204" pitchFamily="34" charset="0"/>
            </a:endParaRPr>
          </a:p>
          <a:p>
            <a:endParaRPr lang="en-US" sz="2000"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58064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FED0A-396A-D4B8-2D04-67DB6AAEFD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D7A32F-A496-EBB5-47C1-629CB9A412E2}"/>
              </a:ext>
            </a:extLst>
          </p:cNvPr>
          <p:cNvSpPr>
            <a:spLocks noGrp="1"/>
          </p:cNvSpPr>
          <p:nvPr>
            <p:ph type="title"/>
          </p:nvPr>
        </p:nvSpPr>
        <p:spPr/>
        <p:txBody>
          <a:bodyPr/>
          <a:lstStyle/>
          <a:p>
            <a:r>
              <a:rPr lang="vi-VN">
                <a:latin typeface="Arial" panose="020B0604020202020204" pitchFamily="34" charset="0"/>
                <a:cs typeface="Arial" panose="020B0604020202020204" pitchFamily="34" charset="0"/>
              </a:rPr>
              <a:t>Tài liệu tham khảo</a:t>
            </a:r>
            <a:endParaRPr lang="en-US">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89E604CA-8C35-FFC6-E9CA-2867B61FFE70}"/>
              </a:ext>
            </a:extLst>
          </p:cNvPr>
          <p:cNvSpPr>
            <a:spLocks noGrp="1"/>
          </p:cNvSpPr>
          <p:nvPr>
            <p:ph type="sldNum" sz="quarter" idx="12"/>
          </p:nvPr>
        </p:nvSpPr>
        <p:spPr/>
        <p:txBody>
          <a:bodyPr/>
          <a:lstStyle/>
          <a:p>
            <a:fld id="{9EA0BE3B-158A-4EDF-80DC-E394A0D1600F}" type="slidenum">
              <a:rPr lang="en-US" smtClean="0"/>
              <a:pPr/>
              <a:t>21</a:t>
            </a:fld>
            <a:endParaRPr lang="en-US" dirty="0"/>
          </a:p>
        </p:txBody>
      </p:sp>
      <p:sp>
        <p:nvSpPr>
          <p:cNvPr id="3" name="TextBox 2">
            <a:extLst>
              <a:ext uri="{FF2B5EF4-FFF2-40B4-BE49-F238E27FC236}">
                <a16:creationId xmlns:a16="http://schemas.microsoft.com/office/drawing/2014/main" id="{BF5F3CCD-A670-60DE-35C7-0E73B1B2582C}"/>
              </a:ext>
            </a:extLst>
          </p:cNvPr>
          <p:cNvSpPr txBox="1"/>
          <p:nvPr/>
        </p:nvSpPr>
        <p:spPr>
          <a:xfrm>
            <a:off x="235077" y="975360"/>
            <a:ext cx="8673846" cy="5062924"/>
          </a:xfrm>
          <a:prstGeom prst="rect">
            <a:avLst/>
          </a:prstGeom>
          <a:noFill/>
        </p:spPr>
        <p:txBody>
          <a:bodyPr wrap="square" rtlCol="0">
            <a:spAutoFit/>
          </a:bodyPr>
          <a:lstStyle/>
          <a:p>
            <a:pPr algn="just"/>
            <a:r>
              <a:rPr lang="en-US" sz="1900">
                <a:latin typeface="Arial" panose="020B0604020202020204" pitchFamily="34" charset="0"/>
                <a:cs typeface="Arial" panose="020B0604020202020204" pitchFamily="34" charset="0"/>
              </a:rPr>
              <a:t>[1] B. Alberts, D. Bray, K. Hopkin, A. D. Johnson, J. Lewis, M. Raff, K. Roberts,and P. Walter, Essential Cell Biology. Garland Science; Oxford UniversityPress, 2015.</a:t>
            </a:r>
            <a:endParaRPr lang="vi-VN" sz="1900">
              <a:latin typeface="Arial" panose="020B0604020202020204" pitchFamily="34" charset="0"/>
              <a:cs typeface="Arial" panose="020B0604020202020204" pitchFamily="34" charset="0"/>
            </a:endParaRPr>
          </a:p>
          <a:p>
            <a:pPr algn="just"/>
            <a:r>
              <a:rPr lang="en-US" sz="1900">
                <a:latin typeface="Arial" panose="020B0604020202020204" pitchFamily="34" charset="0"/>
                <a:cs typeface="Arial" panose="020B0604020202020204" pitchFamily="34" charset="0"/>
              </a:rPr>
              <a:t>[2] D. L. Nelson, A. L. Lehninger, and M. M. Cox, Lehninger Principles ofBiochemistry. Macmillan, 2008.</a:t>
            </a:r>
            <a:endParaRPr lang="vi-VN" sz="1900">
              <a:latin typeface="Arial" panose="020B0604020202020204" pitchFamily="34" charset="0"/>
              <a:cs typeface="Arial" panose="020B0604020202020204" pitchFamily="34" charset="0"/>
            </a:endParaRPr>
          </a:p>
          <a:p>
            <a:pPr algn="just"/>
            <a:r>
              <a:rPr lang="en-US" sz="1900">
                <a:latin typeface="Arial" panose="020B0604020202020204" pitchFamily="34" charset="0"/>
                <a:cs typeface="Arial" panose="020B0604020202020204" pitchFamily="34" charset="0"/>
              </a:rPr>
              <a:t>[3] M. Ashburner, C. A. Ball, J. A. Blake, D. Botstein, H. Butler, J. M. Cherry,A. P. Davis, K. Dolinski, S. S. Dwight, J. T. Eppig, M. A. Harris, D. P.Hill, L. Issel-Tarver, A. Kasarskis, S. Lewis, J. C. Matese, J. E. Richardson,M. Ringwald, G. M. Rubin, and G. Sherlock, “Gene ontology: tool for theunification of biology. The Gene Ontology Consortium,” Nature Genetics,vol. 25, no. 1, pp. 25–29, 2000.</a:t>
            </a:r>
            <a:endParaRPr lang="vi-VN" sz="1900">
              <a:latin typeface="Arial" panose="020B0604020202020204" pitchFamily="34" charset="0"/>
              <a:cs typeface="Arial" panose="020B0604020202020204" pitchFamily="34" charset="0"/>
            </a:endParaRPr>
          </a:p>
          <a:p>
            <a:pPr algn="just"/>
            <a:r>
              <a:rPr lang="en-US" sz="1900">
                <a:latin typeface="Arial" panose="020B0604020202020204" pitchFamily="34" charset="0"/>
                <a:cs typeface="Arial" panose="020B0604020202020204" pitchFamily="34" charset="0"/>
              </a:rPr>
              <a:t>[4] S. A. Aleksander, J. Balhoff, S. Carbon, J. M. Cherry, H. J. Drabkin, D. Ebert,M. Feuermann, P. Gaudet, N. L. Harris, D. P. Hill et al., “The Gene Ontologyknowledgebase in 2023,” Genetics, vol. 224, no. 1, p. iyad031, 2023.</a:t>
            </a:r>
            <a:endParaRPr lang="vi-VN" sz="1900">
              <a:latin typeface="Arial" panose="020B0604020202020204" pitchFamily="34" charset="0"/>
              <a:cs typeface="Arial" panose="020B0604020202020204" pitchFamily="34" charset="0"/>
            </a:endParaRPr>
          </a:p>
          <a:p>
            <a:pPr algn="just"/>
            <a:r>
              <a:rPr lang="en-US" sz="1900">
                <a:latin typeface="Arial" panose="020B0604020202020204" pitchFamily="34" charset="0"/>
                <a:cs typeface="Arial" panose="020B0604020202020204" pitchFamily="34" charset="0"/>
              </a:rPr>
              <a:t>[5] S. F. Altschul, W. Gish, W. Miller, E. W. Myers, and D. J. Lipman, “Basiclocal alignment search tool,” Journal of Molecular Biology, vol. 215, no. 3,pp. 403–410, 1990</a:t>
            </a:r>
          </a:p>
        </p:txBody>
      </p:sp>
    </p:spTree>
    <p:extLst>
      <p:ext uri="{BB962C8B-B14F-4D97-AF65-F5344CB8AC3E}">
        <p14:creationId xmlns:p14="http://schemas.microsoft.com/office/powerpoint/2010/main" val="676166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22</a:t>
            </a:fld>
            <a:endParaRPr lang="en-US" dirty="0"/>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3375499" y="2869324"/>
            <a:ext cx="5602442" cy="1378585"/>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vi-VN" sz="8000">
                <a:latin typeface="Arial" panose="020B0604020202020204" pitchFamily="34" charset="0"/>
                <a:cs typeface="Arial" panose="020B0604020202020204" pitchFamily="34" charset="0"/>
              </a:rPr>
              <a:t>Thank you</a:t>
            </a:r>
            <a:endParaRPr lang="en-US" sz="8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30535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E17733C-2A6F-6E21-323E-4EDEA16B971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12090F-C858-1A69-E3B9-A7C8415124A1}"/>
              </a:ext>
            </a:extLst>
          </p:cNvPr>
          <p:cNvSpPr>
            <a:spLocks noGrp="1"/>
          </p:cNvSpPr>
          <p:nvPr>
            <p:ph type="sldNum" sz="quarter" idx="12"/>
          </p:nvPr>
        </p:nvSpPr>
        <p:spPr/>
        <p:txBody>
          <a:bodyPr/>
          <a:lstStyle/>
          <a:p>
            <a:fld id="{9EA0BE3B-158A-4EDF-80DC-E394A0D1600F}" type="slidenum">
              <a:rPr lang="en-US" smtClean="0"/>
              <a:pPr/>
              <a:t>23</a:t>
            </a:fld>
            <a:endParaRPr lang="en-US" dirty="0"/>
          </a:p>
        </p:txBody>
      </p:sp>
      <p:sp>
        <p:nvSpPr>
          <p:cNvPr id="3" name="Title 2">
            <a:extLst>
              <a:ext uri="{FF2B5EF4-FFF2-40B4-BE49-F238E27FC236}">
                <a16:creationId xmlns:a16="http://schemas.microsoft.com/office/drawing/2014/main" id="{5DF30E9B-2711-2250-641E-2E0FBACC5F6A}"/>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3. Đánh giá &amp; Thực nghiệm</a:t>
            </a:r>
          </a:p>
        </p:txBody>
      </p:sp>
      <p:sp>
        <p:nvSpPr>
          <p:cNvPr id="4" name="Text Placeholder 3">
            <a:extLst>
              <a:ext uri="{FF2B5EF4-FFF2-40B4-BE49-F238E27FC236}">
                <a16:creationId xmlns:a16="http://schemas.microsoft.com/office/drawing/2014/main" id="{13EC8EB7-AD0E-5EB3-387B-81E2114764E2}"/>
              </a:ext>
            </a:extLst>
          </p:cNvPr>
          <p:cNvSpPr>
            <a:spLocks noGrp="1"/>
          </p:cNvSpPr>
          <p:nvPr>
            <p:ph type="body" sz="quarter" idx="13"/>
          </p:nvPr>
        </p:nvSpPr>
        <p:spPr>
          <a:xfrm>
            <a:off x="219217" y="1099595"/>
            <a:ext cx="8674100" cy="5472531"/>
          </a:xfrm>
        </p:spPr>
        <p:txBody>
          <a:bodyPr/>
          <a:lstStyle/>
          <a:p>
            <a:pPr marL="0" indent="0" algn="just">
              <a:buNone/>
            </a:pPr>
            <a:r>
              <a:rPr lang="en-US" sz="2000" b="1">
                <a:latin typeface="Arial" panose="020B0604020202020204" pitchFamily="34" charset="0"/>
                <a:cs typeface="Arial" panose="020B0604020202020204" pitchFamily="34" charset="0"/>
              </a:rPr>
              <a:t>3.</a:t>
            </a:r>
            <a:r>
              <a:rPr lang="vi-VN" sz="2000" b="1">
                <a:latin typeface="Arial" panose="020B0604020202020204" pitchFamily="34" charset="0"/>
                <a:cs typeface="Arial" panose="020B0604020202020204" pitchFamily="34" charset="0"/>
              </a:rPr>
              <a:t>4</a:t>
            </a:r>
            <a:r>
              <a:rPr lang="en-US" sz="2000" b="1">
                <a:latin typeface="Arial" panose="020B0604020202020204" pitchFamily="34" charset="0"/>
                <a:cs typeface="Arial" panose="020B0604020202020204" pitchFamily="34" charset="0"/>
              </a:rPr>
              <a:t>. Các phương pháp so sánh</a:t>
            </a:r>
          </a:p>
          <a:p>
            <a:pPr marL="0" indent="0" algn="just">
              <a:buNone/>
            </a:pPr>
            <a:endParaRPr lang="en-US" sz="2000" b="1">
              <a:latin typeface="Arial" panose="020B0604020202020204" pitchFamily="34" charset="0"/>
              <a:cs typeface="Arial" panose="020B0604020202020204" pitchFamily="34" charset="0"/>
            </a:endParaRPr>
          </a:p>
          <a:p>
            <a:pPr algn="just"/>
            <a:r>
              <a:rPr lang="en-US" sz="2000">
                <a:latin typeface="Arial" panose="020B0604020202020204" pitchFamily="34" charset="0"/>
                <a:cs typeface="Arial" panose="020B0604020202020204" pitchFamily="34" charset="0"/>
              </a:rPr>
              <a:t>BLAST là phương pháp truyền thống dựa trên tương đồng trình tự. </a:t>
            </a:r>
          </a:p>
          <a:p>
            <a:pPr algn="just"/>
            <a:r>
              <a:rPr lang="en-US" sz="2000">
                <a:latin typeface="Arial" panose="020B0604020202020204" pitchFamily="34" charset="0"/>
                <a:cs typeface="Arial" panose="020B0604020202020204" pitchFamily="34" charset="0"/>
              </a:rPr>
              <a:t>DeepGO: CNN (trình tự) + đặc trưng PPI (STRING) → bộ phân loại phân cấp theo cấu trúc DAG của GO.</a:t>
            </a:r>
          </a:p>
          <a:p>
            <a:pPr algn="just"/>
            <a:r>
              <a:rPr lang="en-US" sz="2000">
                <a:latin typeface="Arial" panose="020B0604020202020204" pitchFamily="34" charset="0"/>
                <a:cs typeface="Arial" panose="020B0604020202020204" pitchFamily="34" charset="0"/>
              </a:rPr>
              <a:t>DeepGOA: Dùng GCN học biểu diễn ngữ nghĩa &amp; tương quan giữa các thuật ngữ GO trên chính đồ thị GO, kết hợp với đặc trưng trình tự để dự đoán — khắc phục hạn chế "chưa khai thác đầy đủ cấu trúc GO" của DeepGO.</a:t>
            </a:r>
          </a:p>
          <a:p>
            <a:r>
              <a:rPr lang="en-US" sz="2000">
                <a:latin typeface="Arial" panose="020B0604020202020204" pitchFamily="34" charset="0"/>
                <a:cs typeface="Arial" panose="020B0604020202020204" pitchFamily="34" charset="0"/>
              </a:rPr>
              <a:t>Struct2GO: mô hình gốc mà chúng tôi phát triển  </a:t>
            </a:r>
            <a:br>
              <a:rPr lang="en-US" sz="2000"/>
            </a:br>
            <a:r>
              <a:rPr lang="en-US" sz="2000"/>
              <a:t> </a:t>
            </a:r>
            <a:br>
              <a:rPr lang="en-US" sz="2000"/>
            </a:br>
            <a:endParaRPr lang="vi-VN" sz="2000">
              <a:latin typeface="Arial" panose="020B0604020202020204" pitchFamily="34" charset="0"/>
              <a:cs typeface="Arial" panose="020B0604020202020204" pitchFamily="34" charset="0"/>
            </a:endParaRPr>
          </a:p>
          <a:p>
            <a:pPr algn="just"/>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1594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CAE40C1-FA99-0C3E-ECE7-0B9B2437AA2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9C38AF-5582-8D6C-0DFE-885C2D2D212C}"/>
              </a:ext>
            </a:extLst>
          </p:cNvPr>
          <p:cNvSpPr>
            <a:spLocks noGrp="1"/>
          </p:cNvSpPr>
          <p:nvPr>
            <p:ph type="sldNum" sz="quarter" idx="12"/>
          </p:nvPr>
        </p:nvSpPr>
        <p:spPr/>
        <p:txBody>
          <a:bodyPr/>
          <a:lstStyle/>
          <a:p>
            <a:fld id="{9EA0BE3B-158A-4EDF-80DC-E394A0D1600F}" type="slidenum">
              <a:rPr lang="en-US" smtClean="0"/>
              <a:pPr/>
              <a:t>24</a:t>
            </a:fld>
            <a:endParaRPr lang="en-US" dirty="0"/>
          </a:p>
        </p:txBody>
      </p:sp>
      <p:sp>
        <p:nvSpPr>
          <p:cNvPr id="3" name="Title 2">
            <a:extLst>
              <a:ext uri="{FF2B5EF4-FFF2-40B4-BE49-F238E27FC236}">
                <a16:creationId xmlns:a16="http://schemas.microsoft.com/office/drawing/2014/main" id="{4E666B77-41EC-6045-7118-C86EFB7E2ECA}"/>
              </a:ext>
            </a:extLst>
          </p:cNvPr>
          <p:cNvSpPr>
            <a:spLocks noGrp="1"/>
          </p:cNvSpPr>
          <p:nvPr>
            <p:ph type="title"/>
          </p:nvPr>
        </p:nvSpPr>
        <p:spPr/>
        <p:txBody>
          <a:bodyPr/>
          <a:lstStyle/>
          <a:p>
            <a:r>
              <a:rPr lang="en-US">
                <a:latin typeface="Arial" panose="020B0604020202020204" pitchFamily="34" charset="0"/>
                <a:cs typeface="Arial" panose="020B0604020202020204" pitchFamily="34" charset="0"/>
              </a:rPr>
              <a:t>3. Đánh giá &amp; Thực nghiệm</a:t>
            </a:r>
          </a:p>
        </p:txBody>
      </p:sp>
      <p:sp>
        <p:nvSpPr>
          <p:cNvPr id="4" name="Text Placeholder 3">
            <a:extLst>
              <a:ext uri="{FF2B5EF4-FFF2-40B4-BE49-F238E27FC236}">
                <a16:creationId xmlns:a16="http://schemas.microsoft.com/office/drawing/2014/main" id="{53808255-A973-D7EE-D774-4359A8FAFC46}"/>
              </a:ext>
            </a:extLst>
          </p:cNvPr>
          <p:cNvSpPr>
            <a:spLocks noGrp="1"/>
          </p:cNvSpPr>
          <p:nvPr>
            <p:ph type="body" sz="quarter" idx="13"/>
          </p:nvPr>
        </p:nvSpPr>
        <p:spPr>
          <a:xfrm>
            <a:off x="219217" y="1099595"/>
            <a:ext cx="8674100" cy="5472531"/>
          </a:xfrm>
        </p:spPr>
        <p:txBody>
          <a:bodyPr/>
          <a:lstStyle/>
          <a:p>
            <a:pPr marL="0" indent="0" algn="just">
              <a:buNone/>
            </a:pPr>
            <a:r>
              <a:rPr lang="vi-VN" sz="2000" b="1">
                <a:latin typeface="Arial" panose="020B0604020202020204" pitchFamily="34" charset="0"/>
                <a:cs typeface="Arial" panose="020B0604020202020204" pitchFamily="34" charset="0"/>
              </a:rPr>
              <a:t>3.1. Tập dữ liệu</a:t>
            </a:r>
          </a:p>
          <a:p>
            <a:pPr marL="0" indent="0">
              <a:buNone/>
            </a:pPr>
            <a:r>
              <a:rPr lang="en-US" sz="2000">
                <a:latin typeface="Arial" panose="020B0604020202020204" pitchFamily="34" charset="0"/>
                <a:cs typeface="Arial" panose="020B0604020202020204" pitchFamily="34" charset="0"/>
              </a:rPr>
              <a:t>Tổng số protein: 20.504 3 không gian bản thể học (GO): </a:t>
            </a:r>
            <a:endParaRPr lang="vi-VN" sz="2000">
              <a:latin typeface="Arial" panose="020B0604020202020204" pitchFamily="34" charset="0"/>
              <a:cs typeface="Arial" panose="020B0604020202020204" pitchFamily="34" charset="0"/>
            </a:endParaRPr>
          </a:p>
          <a:p>
            <a:r>
              <a:rPr lang="en-US" sz="2000">
                <a:latin typeface="Arial" panose="020B0604020202020204" pitchFamily="34" charset="0"/>
                <a:cs typeface="Arial" panose="020B0604020202020204" pitchFamily="34" charset="0"/>
              </a:rPr>
              <a:t>CCO (Cellular Component) — 310 thuật ngữ</a:t>
            </a:r>
          </a:p>
          <a:p>
            <a:r>
              <a:rPr lang="en-US" sz="2000">
                <a:latin typeface="Arial" panose="020B0604020202020204" pitchFamily="34" charset="0"/>
                <a:cs typeface="Arial" panose="020B0604020202020204" pitchFamily="34" charset="0"/>
              </a:rPr>
              <a:t>BPO (Biological Process) — 713 thuật ngữ</a:t>
            </a:r>
          </a:p>
          <a:p>
            <a:r>
              <a:rPr lang="en-US" sz="2000">
                <a:latin typeface="Arial" panose="020B0604020202020204" pitchFamily="34" charset="0"/>
                <a:cs typeface="Arial" panose="020B0604020202020204" pitchFamily="34" charset="0"/>
              </a:rPr>
              <a:t>MFO (Molecular Function) — 308 thuật ngữ</a:t>
            </a:r>
          </a:p>
          <a:p>
            <a:pPr marL="0" indent="0">
              <a:buNone/>
            </a:pPr>
            <a:r>
              <a:rPr lang="en-US" sz="2000" i="1">
                <a:latin typeface="Arial" panose="020B0604020202020204" pitchFamily="34" charset="0"/>
                <a:cs typeface="Arial" panose="020B0604020202020204" pitchFamily="34" charset="0"/>
              </a:rPr>
              <a:t>(Đã lọc bỏ các GO term hiếm/tần suất thấp để giảm </a:t>
            </a:r>
            <a:r>
              <a:rPr lang="vi-VN" sz="2000" i="1">
                <a:latin typeface="Arial" panose="020B0604020202020204" pitchFamily="34" charset="0"/>
                <a:cs typeface="Arial" panose="020B0604020202020204" pitchFamily="34" charset="0"/>
              </a:rPr>
              <a:t>nhiễu với ngưỡng  cho BP, MF, CC lần lượt là 250, 50, 50</a:t>
            </a:r>
            <a:r>
              <a:rPr lang="en-US" sz="2000" i="1">
                <a:latin typeface="Arial" panose="020B0604020202020204" pitchFamily="34" charset="0"/>
                <a:cs typeface="Arial" panose="020B0604020202020204" pitchFamily="34" charset="0"/>
              </a:rPr>
              <a:t>)</a:t>
            </a:r>
            <a:endParaRPr lang="en-US" sz="2000">
              <a:latin typeface="Arial" panose="020B0604020202020204" pitchFamily="34" charset="0"/>
              <a:cs typeface="Arial" panose="020B0604020202020204" pitchFamily="34" charset="0"/>
            </a:endParaRPr>
          </a:p>
          <a:p>
            <a:pPr marL="0" indent="0" algn="just">
              <a:buNone/>
            </a:pPr>
            <a:endParaRPr lang="en-US" sz="2000" b="1">
              <a:latin typeface="Arial" panose="020B0604020202020204" pitchFamily="34" charset="0"/>
              <a:cs typeface="Arial" panose="020B0604020202020204" pitchFamily="34" charset="0"/>
            </a:endParaRPr>
          </a:p>
          <a:p>
            <a:pPr marL="0" indent="0" algn="just">
              <a:buNone/>
            </a:pPr>
            <a:br>
              <a:rPr lang="en-US" sz="2000"/>
            </a:br>
            <a:endParaRPr lang="vi-VN" sz="2000">
              <a:latin typeface="Arial" panose="020B0604020202020204" pitchFamily="34" charset="0"/>
              <a:cs typeface="Arial" panose="020B0604020202020204" pitchFamily="34" charset="0"/>
            </a:endParaRPr>
          </a:p>
          <a:p>
            <a:pPr algn="just"/>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86958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AD85AAE-9711-29EB-EB56-24D2A0F0B5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9EC99D-8025-DDEE-5658-119CE1B9D5A9}"/>
              </a:ext>
            </a:extLst>
          </p:cNvPr>
          <p:cNvSpPr>
            <a:spLocks noGrp="1"/>
          </p:cNvSpPr>
          <p:nvPr>
            <p:ph type="title"/>
          </p:nvPr>
        </p:nvSpPr>
        <p:spPr/>
        <p:txBody>
          <a:bodyPr/>
          <a:lstStyle/>
          <a:p>
            <a:r>
              <a:rPr lang="vi-VN">
                <a:latin typeface="Arial" panose="020B0604020202020204" pitchFamily="34" charset="0"/>
                <a:cs typeface="Arial" panose="020B0604020202020204" pitchFamily="34" charset="0"/>
              </a:rPr>
              <a:t>Tài liệu tham khảo</a:t>
            </a:r>
            <a:endParaRPr lang="en-US">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5000178F-8927-0A7D-A086-32B40F73F1DE}"/>
              </a:ext>
            </a:extLst>
          </p:cNvPr>
          <p:cNvSpPr>
            <a:spLocks noGrp="1"/>
          </p:cNvSpPr>
          <p:nvPr>
            <p:ph type="sldNum" sz="quarter" idx="12"/>
          </p:nvPr>
        </p:nvSpPr>
        <p:spPr/>
        <p:txBody>
          <a:bodyPr/>
          <a:lstStyle/>
          <a:p>
            <a:fld id="{9EA0BE3B-158A-4EDF-80DC-E394A0D1600F}" type="slidenum">
              <a:rPr lang="en-US" smtClean="0"/>
              <a:pPr/>
              <a:t>25</a:t>
            </a:fld>
            <a:endParaRPr lang="en-US" dirty="0"/>
          </a:p>
        </p:txBody>
      </p:sp>
      <p:sp>
        <p:nvSpPr>
          <p:cNvPr id="3" name="TextBox 2">
            <a:extLst>
              <a:ext uri="{FF2B5EF4-FFF2-40B4-BE49-F238E27FC236}">
                <a16:creationId xmlns:a16="http://schemas.microsoft.com/office/drawing/2014/main" id="{DB89BCF8-6441-BFE9-F333-BC9477450AAD}"/>
              </a:ext>
            </a:extLst>
          </p:cNvPr>
          <p:cNvSpPr txBox="1"/>
          <p:nvPr/>
        </p:nvSpPr>
        <p:spPr>
          <a:xfrm>
            <a:off x="235077" y="975360"/>
            <a:ext cx="8673846" cy="5355312"/>
          </a:xfrm>
          <a:prstGeom prst="rect">
            <a:avLst/>
          </a:prstGeom>
          <a:noFill/>
        </p:spPr>
        <p:txBody>
          <a:bodyPr wrap="square" rtlCol="0">
            <a:spAutoFit/>
          </a:bodyPr>
          <a:lstStyle/>
          <a:p>
            <a:pPr algn="just"/>
            <a:r>
              <a:rPr lang="en-US" sz="1900">
                <a:latin typeface="Arial" panose="020B0604020202020204" pitchFamily="34" charset="0"/>
                <a:cs typeface="Arial" panose="020B0604020202020204" pitchFamily="34" charset="0"/>
              </a:rPr>
              <a:t>16] M. Kulmanov and R. Hoehndorf, “DeepGOPlus: improved protein functionprediction from sequence,” Bioinformatics, vol. 36, pp. 422–429, 2020.</a:t>
            </a:r>
            <a:endParaRPr lang="vi-VN" sz="1900">
              <a:latin typeface="Arial" panose="020B0604020202020204" pitchFamily="34" charset="0"/>
              <a:cs typeface="Arial" panose="020B0604020202020204" pitchFamily="34" charset="0"/>
            </a:endParaRPr>
          </a:p>
          <a:p>
            <a:pPr algn="just"/>
            <a:r>
              <a:rPr lang="en-US" sz="1900">
                <a:latin typeface="Arial" panose="020B0604020202020204" pitchFamily="34" charset="0"/>
                <a:cs typeface="Arial" panose="020B0604020202020204" pitchFamily="34" charset="0"/>
              </a:rPr>
              <a:t>[17] N. Q. K. Le, E. K. Y. Yapp, N. Nagasundaram, M. C. H. Chua, and H.-Y. Yeh,“Computational identification of vesicular transport proteins from sequencesusing deep gated recurrent units architecture,” Computational and StructuralBiotechnology Journal, vol. 17, pp. 1245–1254, 2019.</a:t>
            </a:r>
            <a:endParaRPr lang="vi-VN" sz="1900">
              <a:latin typeface="Arial" panose="020B0604020202020204" pitchFamily="34" charset="0"/>
              <a:cs typeface="Arial" panose="020B0604020202020204" pitchFamily="34" charset="0"/>
            </a:endParaRPr>
          </a:p>
          <a:p>
            <a:pPr algn="just"/>
            <a:r>
              <a:rPr lang="en-US" sz="1900">
                <a:latin typeface="Arial" panose="020B0604020202020204" pitchFamily="34" charset="0"/>
                <a:cs typeface="Arial" panose="020B0604020202020204" pitchFamily="34" charset="0"/>
              </a:rPr>
              <a:t>[18] Z. Lin, H. Akin, R. Rao, B. Hie, Z. Zhu, W. Lu, N. Smetanin, R. Verkuil,O. Kabeli, Y. Shmueli, A. Dos Santos Costa, M. Fazel-Zarandi, T. Sercu, S.Candido, and A. Rives, “Evolutionary-scale prediction of atomic-level proteinstructure with a language model,” Science, vol. 379, no. 6637, pp. 1123–1130,2023.</a:t>
            </a:r>
            <a:endParaRPr lang="vi-VN" sz="1900">
              <a:latin typeface="Arial" panose="020B0604020202020204" pitchFamily="34" charset="0"/>
              <a:cs typeface="Arial" panose="020B0604020202020204" pitchFamily="34" charset="0"/>
            </a:endParaRPr>
          </a:p>
          <a:p>
            <a:pPr algn="just"/>
            <a:r>
              <a:rPr lang="en-US" sz="1900">
                <a:latin typeface="Arial" panose="020B0604020202020204" pitchFamily="34" charset="0"/>
                <a:cs typeface="Arial" panose="020B0604020202020204" pitchFamily="34" charset="0"/>
              </a:rPr>
              <a:t>[19] J. N. Sua, S. Y. Lim, M. H. Yulius, X. Su, E. K. Y. Yapp, N. Q. K. Le, H.-Y. Yeh, and M. C. H. Chua, “Incorporating convolutional neural networksand sequence graph transform for identifying multilabel protein Lysine PTMsites,” Chemometrics and Intelligent Laboratory Systems, vol. 206, p. 104171,2020.</a:t>
            </a:r>
            <a:endParaRPr lang="vi-VN" sz="1900">
              <a:latin typeface="Arial" panose="020B0604020202020204" pitchFamily="34" charset="0"/>
              <a:cs typeface="Arial" panose="020B0604020202020204" pitchFamily="34" charset="0"/>
            </a:endParaRPr>
          </a:p>
          <a:p>
            <a:pPr algn="just"/>
            <a:r>
              <a:rPr lang="en-US" sz="1900">
                <a:latin typeface="Arial" panose="020B0604020202020204" pitchFamily="34" charset="0"/>
                <a:cs typeface="Arial" panose="020B0604020202020204" pitchFamily="34" charset="0"/>
              </a:rPr>
              <a:t>[20] S. S. Tng, N. Q. K. Le, H.-Y. Yeh, and M. C. H. Chua, “Improved of protein Lysine crotonylation sites using bidirectional recurrentneural networks,” Journal of Proteome Research, vol. 21, no. 1, pp. 265–273,2022</a:t>
            </a:r>
          </a:p>
        </p:txBody>
      </p:sp>
    </p:spTree>
    <p:extLst>
      <p:ext uri="{BB962C8B-B14F-4D97-AF65-F5344CB8AC3E}">
        <p14:creationId xmlns:p14="http://schemas.microsoft.com/office/powerpoint/2010/main" val="445278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03E2038-F405-3303-7DBA-8E4A79EE94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DE7AF8-F20D-78AB-58D9-F0BCAA400CBF}"/>
              </a:ext>
            </a:extLst>
          </p:cNvPr>
          <p:cNvSpPr>
            <a:spLocks noGrp="1"/>
          </p:cNvSpPr>
          <p:nvPr>
            <p:ph type="title"/>
          </p:nvPr>
        </p:nvSpPr>
        <p:spPr/>
        <p:txBody>
          <a:bodyPr/>
          <a:lstStyle/>
          <a:p>
            <a:r>
              <a:rPr lang="vi-VN">
                <a:latin typeface="Arial" panose="020B0604020202020204" pitchFamily="34" charset="0"/>
                <a:cs typeface="Arial" panose="020B0604020202020204" pitchFamily="34" charset="0"/>
              </a:rPr>
              <a:t>Tài liệu tham khảo</a:t>
            </a:r>
            <a:endParaRPr lang="en-US">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5CEF9C5C-68B6-D84A-3BCF-BA5B294E97A5}"/>
              </a:ext>
            </a:extLst>
          </p:cNvPr>
          <p:cNvSpPr>
            <a:spLocks noGrp="1"/>
          </p:cNvSpPr>
          <p:nvPr>
            <p:ph type="sldNum" sz="quarter" idx="12"/>
          </p:nvPr>
        </p:nvSpPr>
        <p:spPr/>
        <p:txBody>
          <a:bodyPr/>
          <a:lstStyle/>
          <a:p>
            <a:fld id="{9EA0BE3B-158A-4EDF-80DC-E394A0D1600F}" type="slidenum">
              <a:rPr lang="en-US" smtClean="0"/>
              <a:pPr/>
              <a:t>26</a:t>
            </a:fld>
            <a:endParaRPr lang="en-US" dirty="0"/>
          </a:p>
        </p:txBody>
      </p:sp>
      <p:sp>
        <p:nvSpPr>
          <p:cNvPr id="3" name="TextBox 2">
            <a:extLst>
              <a:ext uri="{FF2B5EF4-FFF2-40B4-BE49-F238E27FC236}">
                <a16:creationId xmlns:a16="http://schemas.microsoft.com/office/drawing/2014/main" id="{0891BC97-70F6-059E-3A33-A40485B322CF}"/>
              </a:ext>
            </a:extLst>
          </p:cNvPr>
          <p:cNvSpPr txBox="1"/>
          <p:nvPr/>
        </p:nvSpPr>
        <p:spPr>
          <a:xfrm>
            <a:off x="235077" y="1018572"/>
            <a:ext cx="8673846" cy="4434937"/>
          </a:xfrm>
          <a:prstGeom prst="rect">
            <a:avLst/>
          </a:prstGeom>
          <a:noFill/>
        </p:spPr>
        <p:txBody>
          <a:bodyPr wrap="square" rtlCol="0">
            <a:spAutoFit/>
          </a:bodyPr>
          <a:lstStyle/>
          <a:p>
            <a:pPr algn="just"/>
            <a:r>
              <a:rPr lang="vi-VN" sz="1900">
                <a:latin typeface="Arial" panose="020B0604020202020204" pitchFamily="34" charset="0"/>
                <a:cs typeface="Arial" panose="020B0604020202020204" pitchFamily="34" charset="0"/>
              </a:rPr>
              <a:t>[</a:t>
            </a:r>
            <a:r>
              <a:rPr lang="en-US" sz="1900">
                <a:latin typeface="Arial" panose="020B0604020202020204" pitchFamily="34" charset="0"/>
                <a:cs typeface="Arial" panose="020B0604020202020204" pitchFamily="34" charset="0"/>
              </a:rPr>
              <a:t>11] W. Hamilton, Z. Ying, and J. Leskovec, “Inductive representation learning onlarge graphs,” Advances in Neural Information Processing Systems, vol. 30,pp. 1024–1034, 2017.</a:t>
            </a:r>
            <a:endParaRPr lang="vi-VN" sz="1900">
              <a:latin typeface="Arial" panose="020B0604020202020204" pitchFamily="34" charset="0"/>
              <a:cs typeface="Arial" panose="020B0604020202020204" pitchFamily="34" charset="0"/>
            </a:endParaRPr>
          </a:p>
          <a:p>
            <a:pPr algn="just"/>
            <a:r>
              <a:rPr lang="en-US" sz="1900">
                <a:latin typeface="Arial" panose="020B0604020202020204" pitchFamily="34" charset="0"/>
                <a:cs typeface="Arial" panose="020B0604020202020204" pitchFamily="34" charset="0"/>
              </a:rPr>
              <a:t>[12] K. Jha, S. Saha, and H. Singh, “Prediction of protein–protein interaction usinggraph neural networks,” Scientific Reports, vol. 12, no. 1, p. 8360, 2022.</a:t>
            </a:r>
            <a:endParaRPr lang="vi-VN" sz="1900">
              <a:latin typeface="Arial" panose="020B0604020202020204" pitchFamily="34" charset="0"/>
              <a:cs typeface="Arial" panose="020B0604020202020204" pitchFamily="34" charset="0"/>
            </a:endParaRPr>
          </a:p>
          <a:p>
            <a:pPr algn="just"/>
            <a:r>
              <a:rPr lang="en-US" sz="1900">
                <a:latin typeface="Arial" panose="020B0604020202020204" pitchFamily="34" charset="0"/>
                <a:cs typeface="Arial" panose="020B0604020202020204" pitchFamily="34" charset="0"/>
              </a:rPr>
              <a:t>[13] P. Jiao, B. Wang, X. Wang, B. Liu, Y. Wang, and J. Li, “Struct2GO:protein function prediction based on graph pooling algorithm and AlphaFold2structure information,” Bioinformatics, vol. 39, no. 10, p. btad637, 2023.</a:t>
            </a:r>
            <a:endParaRPr lang="vi-VN" sz="1900">
              <a:latin typeface="Arial" panose="020B0604020202020204" pitchFamily="34" charset="0"/>
              <a:cs typeface="Arial" panose="020B0604020202020204" pitchFamily="34" charset="0"/>
            </a:endParaRPr>
          </a:p>
          <a:p>
            <a:pPr algn="just"/>
            <a:r>
              <a:rPr lang="en-US" sz="1900">
                <a:latin typeface="Arial" panose="020B0604020202020204" pitchFamily="34" charset="0"/>
                <a:cs typeface="Arial" panose="020B0604020202020204" pitchFamily="34" charset="0"/>
              </a:rPr>
              <a:t>[14] J. Jumper, R. Evans, A. Pritzel, T. Green, M. Figurnov, O. Ronneberger, K.Tunyasuvunakool, R. Bates, A. Zidek, A. Potapenko et al., “Highly accurateprotein structure prediction with AlphaFold,” Nature, vol. 596, no. 7873, pp.583–589, 2021.</a:t>
            </a:r>
            <a:endParaRPr lang="vi-VN" sz="1900">
              <a:latin typeface="Arial" panose="020B0604020202020204" pitchFamily="34" charset="0"/>
              <a:cs typeface="Arial" panose="020B0604020202020204" pitchFamily="34" charset="0"/>
            </a:endParaRPr>
          </a:p>
          <a:p>
            <a:pPr algn="just"/>
            <a:r>
              <a:rPr lang="en-US" sz="1900">
                <a:latin typeface="Arial" panose="020B0604020202020204" pitchFamily="34" charset="0"/>
                <a:cs typeface="Arial" panose="020B0604020202020204" pitchFamily="34" charset="0"/>
              </a:rPr>
              <a:t>[15] M. Kulmanov, M. A. Khan, R. Hoehndorf, and J. Wren, “DeepGO: predictingprotein functions from sequence and interactions using a deep ontology-awareclassifier,” Bioinformatics, vol. 34, no. 4, pp. 660–668, 2018</a:t>
            </a:r>
          </a:p>
        </p:txBody>
      </p:sp>
    </p:spTree>
    <p:extLst>
      <p:ext uri="{BB962C8B-B14F-4D97-AF65-F5344CB8AC3E}">
        <p14:creationId xmlns:p14="http://schemas.microsoft.com/office/powerpoint/2010/main" val="4803853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FF6DBC4-A494-21AC-3A37-DAAC123DD0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8EEBF7-C221-3E5A-89DF-EF6C68AFA650}"/>
              </a:ext>
            </a:extLst>
          </p:cNvPr>
          <p:cNvSpPr>
            <a:spLocks noGrp="1"/>
          </p:cNvSpPr>
          <p:nvPr>
            <p:ph type="title"/>
          </p:nvPr>
        </p:nvSpPr>
        <p:spPr/>
        <p:txBody>
          <a:bodyPr/>
          <a:lstStyle/>
          <a:p>
            <a:r>
              <a:rPr lang="vi-VN">
                <a:latin typeface="Arial" panose="020B0604020202020204" pitchFamily="34" charset="0"/>
                <a:cs typeface="Arial" panose="020B0604020202020204" pitchFamily="34" charset="0"/>
              </a:rPr>
              <a:t>Tài liệu tham khảo</a:t>
            </a:r>
            <a:endParaRPr lang="en-US">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529057F-BACE-9441-C5A9-EE19348EEBEE}"/>
              </a:ext>
            </a:extLst>
          </p:cNvPr>
          <p:cNvSpPr>
            <a:spLocks noGrp="1"/>
          </p:cNvSpPr>
          <p:nvPr>
            <p:ph type="sldNum" sz="quarter" idx="12"/>
          </p:nvPr>
        </p:nvSpPr>
        <p:spPr/>
        <p:txBody>
          <a:bodyPr/>
          <a:lstStyle/>
          <a:p>
            <a:fld id="{9EA0BE3B-158A-4EDF-80DC-E394A0D1600F}" type="slidenum">
              <a:rPr lang="en-US" smtClean="0"/>
              <a:pPr/>
              <a:t>27</a:t>
            </a:fld>
            <a:endParaRPr lang="en-US" dirty="0"/>
          </a:p>
        </p:txBody>
      </p:sp>
      <p:sp>
        <p:nvSpPr>
          <p:cNvPr id="3" name="TextBox 2">
            <a:extLst>
              <a:ext uri="{FF2B5EF4-FFF2-40B4-BE49-F238E27FC236}">
                <a16:creationId xmlns:a16="http://schemas.microsoft.com/office/drawing/2014/main" id="{A194010E-9970-8C54-DB0C-BE8D06B9F0AD}"/>
              </a:ext>
            </a:extLst>
          </p:cNvPr>
          <p:cNvSpPr txBox="1"/>
          <p:nvPr/>
        </p:nvSpPr>
        <p:spPr>
          <a:xfrm>
            <a:off x="235077" y="975360"/>
            <a:ext cx="8821374" cy="5062924"/>
          </a:xfrm>
          <a:prstGeom prst="rect">
            <a:avLst/>
          </a:prstGeom>
          <a:noFill/>
        </p:spPr>
        <p:txBody>
          <a:bodyPr wrap="square" rtlCol="0">
            <a:spAutoFit/>
          </a:bodyPr>
          <a:lstStyle/>
          <a:p>
            <a:pPr algn="just"/>
            <a:r>
              <a:rPr lang="en-US" sz="1900">
                <a:latin typeface="Arial" panose="020B0604020202020204" pitchFamily="34" charset="0"/>
                <a:cs typeface="Arial" panose="020B0604020202020204" pitchFamily="34" charset="0"/>
              </a:rPr>
              <a:t>[6] A. Bateman, M. J. Martin, S. Orchard, M. Magrane, S. Ahmad, E. Alpi, E.H. Bowler-Barnett, R. Britto, H. Bye-A-Jee, A. Cukura et al., “UniProt: theUniversal Protein Knowledgebase in 2023,” Nucleic Acids Research, vol. 51,no. D1, pp. D523–D531, 2023.</a:t>
            </a:r>
            <a:endParaRPr lang="vi-VN" sz="1900">
              <a:latin typeface="Arial" panose="020B0604020202020204" pitchFamily="34" charset="0"/>
              <a:cs typeface="Arial" panose="020B0604020202020204" pitchFamily="34" charset="0"/>
            </a:endParaRPr>
          </a:p>
          <a:p>
            <a:pPr algn="just"/>
            <a:r>
              <a:rPr lang="en-US" sz="1900">
                <a:latin typeface="Arial" panose="020B0604020202020204" pitchFamily="34" charset="0"/>
                <a:cs typeface="Arial" panose="020B0604020202020204" pitchFamily="34" charset="0"/>
              </a:rPr>
              <a:t>[7] N. Brandes, D. Ofer, Y. Peleg, N. Rappoport, and M. Linial, “ProteinBERT:a universal deep-learning model of protein sequence and function,”Bioinformatics, vol. 38, no. 8, pp. 2102–2110, 2022.</a:t>
            </a:r>
            <a:endParaRPr lang="vi-VN" sz="1900">
              <a:latin typeface="Arial" panose="020B0604020202020204" pitchFamily="34" charset="0"/>
              <a:cs typeface="Arial" panose="020B0604020202020204" pitchFamily="34" charset="0"/>
            </a:endParaRPr>
          </a:p>
          <a:p>
            <a:pPr algn="just"/>
            <a:r>
              <a:rPr lang="en-US" sz="1900">
                <a:latin typeface="Arial" panose="020B0604020202020204" pitchFamily="34" charset="0"/>
                <a:cs typeface="Arial" panose="020B0604020202020204" pitchFamily="34" charset="0"/>
              </a:rPr>
              <a:t>[8] C. M. Carnielli, F. V. Winck, and A. F. Paes Leme, “Functional annotationand biological interpretation of proteomics data,” Biochimica et BiophysicaActa, vol. 1854, no. 1, pp. 46–54, 2015.</a:t>
            </a:r>
            <a:endParaRPr lang="vi-VN" sz="1900">
              <a:latin typeface="Arial" panose="020B0604020202020204" pitchFamily="34" charset="0"/>
              <a:cs typeface="Arial" panose="020B0604020202020204" pitchFamily="34" charset="0"/>
            </a:endParaRPr>
          </a:p>
          <a:p>
            <a:pPr algn="just"/>
            <a:r>
              <a:rPr lang="en-US" sz="1900">
                <a:latin typeface="Arial" panose="020B0604020202020204" pitchFamily="34" charset="0"/>
                <a:cs typeface="Arial" panose="020B0604020202020204" pitchFamily="34" charset="0"/>
              </a:rPr>
              <a:t>[9] V. Gligorijevic, P. D. Renfrew, T. Kosciolek, J. K. Leman, D. Berenberg, T.Vatanen, C. Chandler, B. C. Taylor, I. M. Fisk, H. Vlamakis et al., “Structure-based protein function prediction using graph convolutional networks,”Nature Communications, vol. 12, no. 1, p. 3168, 2021.</a:t>
            </a:r>
            <a:endParaRPr lang="vi-VN" sz="1900">
              <a:latin typeface="Arial" panose="020B0604020202020204" pitchFamily="34" charset="0"/>
              <a:cs typeface="Arial" panose="020B0604020202020204" pitchFamily="34" charset="0"/>
            </a:endParaRPr>
          </a:p>
          <a:p>
            <a:pPr algn="just"/>
            <a:r>
              <a:rPr lang="en-US" sz="1900">
                <a:latin typeface="Arial" panose="020B0604020202020204" pitchFamily="34" charset="0"/>
                <a:cs typeface="Arial" panose="020B0604020202020204" pitchFamily="34" charset="0"/>
              </a:rPr>
              <a:t>[10] Z. Gu, X. Luo, J. Chen, M. Deng, and L. Lai, “Hierarchical graph transformer38TÀI LIỆU THAM KHẢOwith contrastive learning for protein function prediction,” Bioinformatics, vol.39, no. 7, p. btad410, 2023</a:t>
            </a:r>
          </a:p>
        </p:txBody>
      </p:sp>
    </p:spTree>
    <p:extLst>
      <p:ext uri="{BB962C8B-B14F-4D97-AF65-F5344CB8AC3E}">
        <p14:creationId xmlns:p14="http://schemas.microsoft.com/office/powerpoint/2010/main" val="65898815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2792</TotalTime>
  <Words>2762</Words>
  <Application>Microsoft Office PowerPoint</Application>
  <PresentationFormat>On-screen Show (4:3)</PresentationFormat>
  <Paragraphs>191</Paragraphs>
  <Slides>27</Slides>
  <Notes>0</Notes>
  <HiddenSlides>5</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Lato</vt:lpstr>
      <vt:lpstr>Office Theme</vt:lpstr>
      <vt:lpstr>PowerPoint Presentation</vt:lpstr>
      <vt:lpstr>Nội dung trình bày</vt:lpstr>
      <vt:lpstr>1. Giới thiệu và Đặt vấn đề</vt:lpstr>
      <vt:lpstr>1. Giới thiệu và Đặt vấn đề</vt:lpstr>
      <vt:lpstr>1. Giới thiệu và Đặt vấn đề</vt:lpstr>
      <vt:lpstr>2. PHƯƠNG PHÁP ĐỀ XUẤT</vt:lpstr>
      <vt:lpstr>2. PHƯƠNG PHÁP ĐỀ XUẤT</vt:lpstr>
      <vt:lpstr>2. PHƯƠNG PHÁP ĐỀ XUẤT</vt:lpstr>
      <vt:lpstr>2. PHƯƠNG PHÁP ĐỀ XUẤT</vt:lpstr>
      <vt:lpstr>2. PHƯƠNG PHÁP ĐỀ XUẤT</vt:lpstr>
      <vt:lpstr>2. PHƯƠNG PHÁP ĐỀ XUẤT</vt:lpstr>
      <vt:lpstr>3. Đánh giá &amp; Thực nghiệm</vt:lpstr>
      <vt:lpstr>3. Đánh giá &amp; Thực nghiệm</vt:lpstr>
      <vt:lpstr>3. Đánh giá &amp; Thực nghiệm</vt:lpstr>
      <vt:lpstr>3. Đánh giá &amp; Thực nghiệm</vt:lpstr>
      <vt:lpstr>3. Đánh giá &amp; Thực nghiệm</vt:lpstr>
      <vt:lpstr>3. Đánh giá &amp; Thực nghiệm</vt:lpstr>
      <vt:lpstr>4. Kết luận và Hướng phát triển</vt:lpstr>
      <vt:lpstr>4. Kết luận và Hướng phát triển</vt:lpstr>
      <vt:lpstr>4. Kết luận và Hướng phát triển</vt:lpstr>
      <vt:lpstr>Tài liệu tham khảo</vt:lpstr>
      <vt:lpstr>PowerPoint Presentation</vt:lpstr>
      <vt:lpstr>3. Đánh giá &amp; Thực nghiệm</vt:lpstr>
      <vt:lpstr>3. Đánh giá &amp; Thực nghiệm</vt:lpstr>
      <vt:lpstr>Tài liệu tham khảo</vt:lpstr>
      <vt:lpstr>Tài liệu tham khảo</vt:lpstr>
      <vt:lpstr>Tài liệu tham khảo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Nguyễn Ngọc Hà</cp:lastModifiedBy>
  <cp:revision>71</cp:revision>
  <dcterms:created xsi:type="dcterms:W3CDTF">2021-05-28T04:32:29Z</dcterms:created>
  <dcterms:modified xsi:type="dcterms:W3CDTF">2026-07-15T23:24:10Z</dcterms:modified>
</cp:coreProperties>
</file>